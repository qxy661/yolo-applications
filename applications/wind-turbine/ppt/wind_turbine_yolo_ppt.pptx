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68" r:id="rId3"/>
    <p:sldId id="285" r:id="rId5"/>
    <p:sldId id="269" r:id="rId6"/>
    <p:sldId id="294" r:id="rId7"/>
    <p:sldId id="271" r:id="rId8"/>
    <p:sldId id="272" r:id="rId9"/>
    <p:sldId id="273" r:id="rId10"/>
    <p:sldId id="289" r:id="rId11"/>
    <p:sldId id="274" r:id="rId12"/>
    <p:sldId id="275" r:id="rId13"/>
    <p:sldId id="290" r:id="rId14"/>
    <p:sldId id="293" r:id="rId15"/>
    <p:sldId id="280" r:id="rId16"/>
    <p:sldId id="292" r:id="rId17"/>
    <p:sldId id="282" r:id="rId18"/>
    <p:sldId id="283" r:id="rId19"/>
    <p:sldId id="284" r:id="rId2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5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55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8922EB3-8BB3-4D7C-920D-99B3A498A38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8922EB3-8BB3-4D7C-920D-99B3A498A38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2" Type="http://schemas.openxmlformats.org/officeDocument/2006/relationships/slideLayout" Target="../slideLayouts/slideLayout1.xml"/><Relationship Id="rId21" Type="http://schemas.openxmlformats.org/officeDocument/2006/relationships/image" Target="../media/image8.png"/><Relationship Id="rId20" Type="http://schemas.openxmlformats.org/officeDocument/2006/relationships/image" Target="../media/image7.png"/><Relationship Id="rId2" Type="http://schemas.openxmlformats.org/officeDocument/2006/relationships/image" Target="../media/image5.jpeg"/><Relationship Id="rId19" Type="http://schemas.openxmlformats.org/officeDocument/2006/relationships/image" Target="../media/image6.png"/><Relationship Id="rId18" Type="http://schemas.openxmlformats.org/officeDocument/2006/relationships/tags" Target="../tags/tag16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6" Type="http://schemas.openxmlformats.org/officeDocument/2006/relationships/slideLayout" Target="../slideLayouts/slideLayout2.xml"/><Relationship Id="rId25" Type="http://schemas.openxmlformats.org/officeDocument/2006/relationships/image" Target="../media/image11.png"/><Relationship Id="rId24" Type="http://schemas.openxmlformats.org/officeDocument/2006/relationships/tags" Target="../tags/tag36.xml"/><Relationship Id="rId23" Type="http://schemas.openxmlformats.org/officeDocument/2006/relationships/tags" Target="../tags/tag35.xml"/><Relationship Id="rId22" Type="http://schemas.openxmlformats.org/officeDocument/2006/relationships/tags" Target="../tags/tag34.xml"/><Relationship Id="rId21" Type="http://schemas.openxmlformats.org/officeDocument/2006/relationships/tags" Target="../tags/tag33.xml"/><Relationship Id="rId20" Type="http://schemas.openxmlformats.org/officeDocument/2006/relationships/tags" Target="../tags/tag32.xml"/><Relationship Id="rId2" Type="http://schemas.microsoft.com/office/2007/relationships/hdphoto" Target="../media/image10.wdp"/><Relationship Id="rId19" Type="http://schemas.openxmlformats.org/officeDocument/2006/relationships/tags" Target="../tags/tag31.xml"/><Relationship Id="rId18" Type="http://schemas.openxmlformats.org/officeDocument/2006/relationships/tags" Target="../tags/tag30.xml"/><Relationship Id="rId17" Type="http://schemas.openxmlformats.org/officeDocument/2006/relationships/tags" Target="../tags/tag29.xml"/><Relationship Id="rId16" Type="http://schemas.openxmlformats.org/officeDocument/2006/relationships/tags" Target="../tags/tag28.xml"/><Relationship Id="rId15" Type="http://schemas.openxmlformats.org/officeDocument/2006/relationships/tags" Target="../tags/tag27.xml"/><Relationship Id="rId14" Type="http://schemas.openxmlformats.org/officeDocument/2006/relationships/tags" Target="../tags/tag26.xml"/><Relationship Id="rId13" Type="http://schemas.openxmlformats.org/officeDocument/2006/relationships/tags" Target="../tags/tag25.xml"/><Relationship Id="rId12" Type="http://schemas.openxmlformats.org/officeDocument/2006/relationships/tags" Target="../tags/tag2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microsoft.com/office/2007/relationships/hdphoto" Target="../media/image10.wdp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41.xml"/><Relationship Id="rId8" Type="http://schemas.openxmlformats.org/officeDocument/2006/relationships/tags" Target="../tags/tag40.xml"/><Relationship Id="rId7" Type="http://schemas.openxmlformats.org/officeDocument/2006/relationships/tags" Target="../tags/tag39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microsoft.com/office/2007/relationships/hdphoto" Target="../media/image10.wdp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15.png"/><Relationship Id="rId13" Type="http://schemas.openxmlformats.org/officeDocument/2006/relationships/tags" Target="../tags/tag45.xml"/><Relationship Id="rId12" Type="http://schemas.openxmlformats.org/officeDocument/2006/relationships/tags" Target="../tags/tag44.xml"/><Relationship Id="rId11" Type="http://schemas.openxmlformats.org/officeDocument/2006/relationships/tags" Target="../tags/tag43.xml"/><Relationship Id="rId10" Type="http://schemas.openxmlformats.org/officeDocument/2006/relationships/tags" Target="../tags/tag42.xml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50.xml"/><Relationship Id="rId8" Type="http://schemas.openxmlformats.org/officeDocument/2006/relationships/tags" Target="../tags/tag49.xml"/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0" Type="http://schemas.openxmlformats.org/officeDocument/2006/relationships/slideLayout" Target="../slideLayouts/slideLayout2.xml"/><Relationship Id="rId2" Type="http://schemas.microsoft.com/office/2007/relationships/hdphoto" Target="../media/image10.wdp"/><Relationship Id="rId19" Type="http://schemas.openxmlformats.org/officeDocument/2006/relationships/image" Target="../media/image17.png"/><Relationship Id="rId18" Type="http://schemas.openxmlformats.org/officeDocument/2006/relationships/tags" Target="../tags/tag58.xml"/><Relationship Id="rId17" Type="http://schemas.openxmlformats.org/officeDocument/2006/relationships/tags" Target="../tags/tag57.xml"/><Relationship Id="rId16" Type="http://schemas.openxmlformats.org/officeDocument/2006/relationships/tags" Target="../tags/tag56.xml"/><Relationship Id="rId15" Type="http://schemas.openxmlformats.org/officeDocument/2006/relationships/tags" Target="../tags/tag55.xml"/><Relationship Id="rId14" Type="http://schemas.openxmlformats.org/officeDocument/2006/relationships/tags" Target="../tags/tag54.xml"/><Relationship Id="rId13" Type="http://schemas.openxmlformats.org/officeDocument/2006/relationships/tags" Target="../tags/tag53.xml"/><Relationship Id="rId12" Type="http://schemas.openxmlformats.org/officeDocument/2006/relationships/image" Target="../media/image16.png"/><Relationship Id="rId11" Type="http://schemas.openxmlformats.org/officeDocument/2006/relationships/tags" Target="../tags/tag52.xml"/><Relationship Id="rId10" Type="http://schemas.openxmlformats.org/officeDocument/2006/relationships/tags" Target="../tags/tag51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png"/><Relationship Id="rId8" Type="http://schemas.openxmlformats.org/officeDocument/2006/relationships/tags" Target="../tags/tag61.xml"/><Relationship Id="rId7" Type="http://schemas.openxmlformats.org/officeDocument/2006/relationships/tags" Target="../tags/tag60.xml"/><Relationship Id="rId6" Type="http://schemas.openxmlformats.org/officeDocument/2006/relationships/tags" Target="../tags/tag59.xml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microsoft.com/office/2007/relationships/hdphoto" Target="../media/image10.wdp"/><Relationship Id="rId22" Type="http://schemas.openxmlformats.org/officeDocument/2006/relationships/slideLayout" Target="../slideLayouts/slideLayout2.xml"/><Relationship Id="rId21" Type="http://schemas.openxmlformats.org/officeDocument/2006/relationships/tags" Target="../tags/tag73.xml"/><Relationship Id="rId20" Type="http://schemas.openxmlformats.org/officeDocument/2006/relationships/tags" Target="../tags/tag72.xml"/><Relationship Id="rId2" Type="http://schemas.openxmlformats.org/officeDocument/2006/relationships/image" Target="../media/image9.png"/><Relationship Id="rId19" Type="http://schemas.openxmlformats.org/officeDocument/2006/relationships/tags" Target="../tags/tag71.xml"/><Relationship Id="rId18" Type="http://schemas.openxmlformats.org/officeDocument/2006/relationships/tags" Target="../tags/tag70.xml"/><Relationship Id="rId17" Type="http://schemas.openxmlformats.org/officeDocument/2006/relationships/tags" Target="../tags/tag69.xml"/><Relationship Id="rId16" Type="http://schemas.openxmlformats.org/officeDocument/2006/relationships/tags" Target="../tags/tag68.xml"/><Relationship Id="rId15" Type="http://schemas.openxmlformats.org/officeDocument/2006/relationships/tags" Target="../tags/tag67.xml"/><Relationship Id="rId14" Type="http://schemas.openxmlformats.org/officeDocument/2006/relationships/tags" Target="../tags/tag66.xml"/><Relationship Id="rId13" Type="http://schemas.openxmlformats.org/officeDocument/2006/relationships/tags" Target="../tags/tag65.xml"/><Relationship Id="rId12" Type="http://schemas.openxmlformats.org/officeDocument/2006/relationships/tags" Target="../tags/tag64.xml"/><Relationship Id="rId11" Type="http://schemas.openxmlformats.org/officeDocument/2006/relationships/tags" Target="../tags/tag63.xml"/><Relationship Id="rId10" Type="http://schemas.openxmlformats.org/officeDocument/2006/relationships/tags" Target="../tags/tag62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2.jpe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64708" y="1350421"/>
            <a:ext cx="6117209" cy="6117209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63"/>
          <a:stretch>
            <a:fillRect/>
          </a:stretch>
        </p:blipFill>
        <p:spPr>
          <a:xfrm>
            <a:off x="191336" y="116804"/>
            <a:ext cx="11808694" cy="522651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91335" y="116804"/>
            <a:ext cx="11808694" cy="5226510"/>
          </a:xfrm>
          <a:prstGeom prst="rect">
            <a:avLst/>
          </a:prstGeom>
          <a:solidFill>
            <a:srgbClr val="024282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平行四边形 9"/>
          <p:cNvSpPr/>
          <p:nvPr/>
        </p:nvSpPr>
        <p:spPr>
          <a:xfrm>
            <a:off x="4949269" y="5155777"/>
            <a:ext cx="2292827" cy="383807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平行四边形 10"/>
          <p:cNvSpPr/>
          <p:nvPr/>
        </p:nvSpPr>
        <p:spPr>
          <a:xfrm>
            <a:off x="2999500" y="5935080"/>
            <a:ext cx="2764454" cy="487214"/>
          </a:xfrm>
          <a:prstGeom prst="parallelogram">
            <a:avLst/>
          </a:prstGeom>
          <a:solidFill>
            <a:srgbClr val="0242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平行四边形 11"/>
          <p:cNvSpPr/>
          <p:nvPr/>
        </p:nvSpPr>
        <p:spPr>
          <a:xfrm>
            <a:off x="6427413" y="5935079"/>
            <a:ext cx="2764454" cy="487214"/>
          </a:xfrm>
          <a:prstGeom prst="parallelogram">
            <a:avLst/>
          </a:prstGeom>
          <a:solidFill>
            <a:srgbClr val="0242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文本占位符 30"/>
          <p:cNvSpPr txBox="1"/>
          <p:nvPr/>
        </p:nvSpPr>
        <p:spPr>
          <a:xfrm>
            <a:off x="3000219" y="6033634"/>
            <a:ext cx="2730993" cy="296530"/>
          </a:xfrm>
          <a:prstGeom prst="rect">
            <a:avLst/>
          </a:prstGeom>
        </p:spPr>
        <p:txBody>
          <a:bodyPr vert="horz" lIns="91435" tIns="45717" rIns="91435" bIns="45717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汇报人：齐晓阳、胡佳怡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6" name="文本占位符 31"/>
          <p:cNvSpPr txBox="1"/>
          <p:nvPr/>
        </p:nvSpPr>
        <p:spPr>
          <a:xfrm>
            <a:off x="6459882" y="6033726"/>
            <a:ext cx="2609714" cy="296530"/>
          </a:xfrm>
          <a:prstGeom prst="rect">
            <a:avLst/>
          </a:prstGeom>
        </p:spPr>
        <p:txBody>
          <a:bodyPr vert="horz" lIns="91435" tIns="45717" rIns="91435" bIns="45717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指导学姐：郜雅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4" name="文本占位符 24"/>
          <p:cNvSpPr txBox="1"/>
          <p:nvPr/>
        </p:nvSpPr>
        <p:spPr>
          <a:xfrm>
            <a:off x="515351" y="2219027"/>
            <a:ext cx="11160658" cy="2133601"/>
          </a:xfrm>
          <a:prstGeom prst="rect">
            <a:avLst/>
          </a:prstGeom>
        </p:spPr>
        <p:txBody>
          <a:bodyPr vert="horz" lIns="91435" tIns="45717" rIns="91435" bIns="45717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sz="5400">
                <a:sym typeface="+mn-ea"/>
              </a:rPr>
              <a:t>风电叶片缺陷检测</a:t>
            </a:r>
            <a:endParaRPr sz="5400">
              <a:sym typeface="+mn-ea"/>
            </a:endParaRPr>
          </a:p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>
                <a:sym typeface="+mn-ea"/>
              </a:rPr>
              <a:t>基于YOLO</a:t>
            </a:r>
            <a:r>
              <a:rPr lang="en-US">
                <a:sym typeface="+mn-ea"/>
              </a:rPr>
              <a:t>v11</a:t>
            </a:r>
            <a:r>
              <a:rPr>
                <a:sym typeface="+mn-ea"/>
              </a:rPr>
              <a:t>的技术调研与方案设计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2207453" y="4392402"/>
            <a:ext cx="7632450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3879773" y="981701"/>
            <a:ext cx="4918669" cy="1253867"/>
            <a:chOff x="751446" y="486412"/>
            <a:chExt cx="4918925" cy="1253932"/>
          </a:xfrm>
        </p:grpSpPr>
        <p:pic>
          <p:nvPicPr>
            <p:cNvPr id="21" name="图片 20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751446" y="486412"/>
              <a:ext cx="1253932" cy="1253932"/>
            </a:xfrm>
            <a:prstGeom prst="rect">
              <a:avLst/>
            </a:prstGeom>
          </p:spPr>
        </p:pic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960350" y="609785"/>
              <a:ext cx="3710021" cy="607920"/>
            </a:xfrm>
            <a:prstGeom prst="rect">
              <a:avLst/>
            </a:prstGeom>
          </p:spPr>
        </p:pic>
        <p:sp>
          <p:nvSpPr>
            <p:cNvPr id="23" name="矩形 22"/>
            <p:cNvSpPr/>
            <p:nvPr/>
          </p:nvSpPr>
          <p:spPr>
            <a:xfrm>
              <a:off x="2167394" y="1226892"/>
              <a:ext cx="3502977" cy="3067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/>
              <a:r>
                <a:rPr lang="en-US" altLang="zh-CN" sz="1400" b="1" dirty="0">
                  <a:solidFill>
                    <a:prstClr val="white"/>
                  </a:solidFill>
                </a:rPr>
                <a:t>BEIHANG UNIVERSITY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14:gallery dir="l"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图片 4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29717" y="617549"/>
            <a:ext cx="6049233" cy="6049233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90" r="16132"/>
          <a:stretch>
            <a:fillRect/>
          </a:stretch>
        </p:blipFill>
        <p:spPr>
          <a:xfrm>
            <a:off x="1" y="178"/>
            <a:ext cx="6239689" cy="6872631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-19600" y="179"/>
            <a:ext cx="6259290" cy="6872632"/>
          </a:xfrm>
          <a:prstGeom prst="rect">
            <a:avLst/>
          </a:prstGeom>
          <a:gradFill flip="none" rotWithShape="1">
            <a:gsLst>
              <a:gs pos="0">
                <a:srgbClr val="024282">
                  <a:alpha val="70000"/>
                </a:srgbClr>
              </a:gs>
              <a:gs pos="59000">
                <a:srgbClr val="024282">
                  <a:alpha val="80000"/>
                </a:srgbClr>
              </a:gs>
              <a:gs pos="100000">
                <a:srgbClr val="024282">
                  <a:alpha val="9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251186" y="948807"/>
            <a:ext cx="3022327" cy="1350204"/>
            <a:chOff x="1283804" y="1236710"/>
            <a:chExt cx="3022484" cy="1350274"/>
          </a:xfrm>
        </p:grpSpPr>
        <p:sp>
          <p:nvSpPr>
            <p:cNvPr id="4" name="平行四边形 3"/>
            <p:cNvSpPr/>
            <p:nvPr/>
          </p:nvSpPr>
          <p:spPr>
            <a:xfrm>
              <a:off x="1283804" y="1236710"/>
              <a:ext cx="3022484" cy="1350274"/>
            </a:xfrm>
            <a:prstGeom prst="parallelogram">
              <a:avLst>
                <a:gd name="adj" fmla="val 30209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1573792" y="1256225"/>
              <a:ext cx="2410259" cy="1329450"/>
              <a:chOff x="4874746" y="232424"/>
              <a:chExt cx="2410259" cy="1329450"/>
            </a:xfrm>
          </p:grpSpPr>
          <p:sp>
            <p:nvSpPr>
              <p:cNvPr id="7" name="文本框 6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/>
              <p:cNvSpPr txBox="1">
                <a:spLocks noChangeArrowheads="1"/>
              </p:cNvSpPr>
              <p:nvPr/>
            </p:nvSpPr>
            <p:spPr bwMode="auto">
              <a:xfrm>
                <a:off x="5193843" y="1163073"/>
                <a:ext cx="1772064" cy="3988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defRPr>
                </a:lvl5pPr>
                <a:lvl6pPr marL="25146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defRPr>
                </a:lvl6pPr>
                <a:lvl7pPr marL="29718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defRPr>
                </a:lvl7pPr>
                <a:lvl8pPr marL="34290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defRPr>
                </a:lvl8pPr>
                <a:lvl9pPr marL="38862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defRPr>
                </a:lvl9pPr>
              </a:lstStyle>
              <a:p>
                <a:pPr marL="0" marR="0" lvl="0" indent="0" algn="ctr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2865755" algn="l"/>
                  </a:tabLst>
                  <a:defRPr/>
                </a:pP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24282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charset="-122"/>
                    <a:cs typeface="+mn-cs"/>
                    <a:sym typeface="Calibri" panose="020F0502020204030204" charset="0"/>
                  </a:rPr>
                  <a:t>CONTENTS</a:t>
                </a:r>
                <a:endPara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  <a:sym typeface="Calibri" panose="020F0502020204030204" charset="0"/>
                </a:endParaRPr>
              </a:p>
            </p:txBody>
          </p:sp>
          <p:sp>
            <p:nvSpPr>
              <p:cNvPr id="8" name="文本框 7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/>
              <p:cNvSpPr txBox="1">
                <a:spLocks noChangeArrowheads="1"/>
              </p:cNvSpPr>
              <p:nvPr/>
            </p:nvSpPr>
            <p:spPr bwMode="auto">
              <a:xfrm>
                <a:off x="4874746" y="232424"/>
                <a:ext cx="2410259" cy="8291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defRPr>
                </a:lvl5pPr>
                <a:lvl6pPr marL="25146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defRPr>
                </a:lvl6pPr>
                <a:lvl7pPr marL="29718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defRPr>
                </a:lvl7pPr>
                <a:lvl8pPr marL="34290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defRPr>
                </a:lvl8pPr>
                <a:lvl9pPr marL="38862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charset="-122"/>
                  </a:defRPr>
                </a:lvl9pPr>
              </a:lstStyle>
              <a:p>
                <a:pPr marL="0" marR="0" lvl="0" indent="0" algn="ctr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2865755" algn="l"/>
                  </a:tabLst>
                  <a:defRPr/>
                </a:pPr>
                <a:r>
                  <a:rPr kumimoji="0" lang="zh-CN" altLang="en-US" sz="4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24282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+mn-cs"/>
                    <a:sym typeface="Calibri" panose="020F0502020204030204" charset="0"/>
                  </a:rPr>
                  <a:t>目 录</a:t>
                </a:r>
                <a:endParaRPr kumimoji="0" lang="en-US" altLang="zh-CN" sz="4800" b="1" i="0" u="none" strike="noStrike" kern="120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Calibri" panose="020F0502020204030204" charset="0"/>
                </a:endParaRPr>
              </a:p>
            </p:txBody>
          </p:sp>
          <p:cxnSp>
            <p:nvCxnSpPr>
              <p:cNvPr id="9" name="直接连接符 8"/>
              <p:cNvCxnSpPr/>
              <p:nvPr/>
            </p:nvCxnSpPr>
            <p:spPr>
              <a:xfrm>
                <a:off x="5471592" y="1091557"/>
                <a:ext cx="1224136" cy="0"/>
              </a:xfrm>
              <a:prstGeom prst="line">
                <a:avLst/>
              </a:prstGeom>
              <a:ln w="28575">
                <a:solidFill>
                  <a:srgbClr val="02428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3" name="组合 12"/>
          <p:cNvGrpSpPr/>
          <p:nvPr>
            <p:custDataLst>
              <p:tags r:id="rId3"/>
            </p:custDataLst>
          </p:nvPr>
        </p:nvGrpSpPr>
        <p:grpSpPr>
          <a:xfrm>
            <a:off x="5519647" y="1112537"/>
            <a:ext cx="1381301" cy="660366"/>
            <a:chOff x="5519936" y="1488468"/>
            <a:chExt cx="1381373" cy="66040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1" name="平行四边形 10"/>
            <p:cNvSpPr/>
            <p:nvPr>
              <p:custDataLst>
                <p:tags r:id="rId4"/>
              </p:custDataLst>
            </p:nvPr>
          </p:nvSpPr>
          <p:spPr>
            <a:xfrm>
              <a:off x="5519936" y="1488468"/>
              <a:ext cx="1381373" cy="660400"/>
            </a:xfrm>
            <a:prstGeom prst="parallelogram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" name="文本框 11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5597600" y="1541909"/>
              <a:ext cx="1086759" cy="58359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9pPr>
            </a:lstStyle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2865755" algn="l"/>
                </a:tabLst>
                <a:defRPr/>
              </a:pP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Arial Black" panose="020B0A04020102020204" pitchFamily="34" charset="0"/>
                  <a:ea typeface="微软雅黑" panose="020B0503020204020204" charset="-122"/>
                  <a:cs typeface="+mn-cs"/>
                  <a:sym typeface="Calibri" panose="020F0502020204030204" charset="0"/>
                </a:rPr>
                <a:t>01</a:t>
              </a:r>
              <a:endPara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rial Black" panose="020B0A04020102020204" pitchFamily="34" charset="0"/>
                <a:ea typeface="微软雅黑" panose="020B0503020204020204" charset="-122"/>
                <a:cs typeface="+mn-cs"/>
                <a:sym typeface="Calibri" panose="020F0502020204030204" charset="0"/>
              </a:endParaRPr>
            </a:p>
          </p:txBody>
        </p:sp>
      </p:grpSp>
      <p:grpSp>
        <p:nvGrpSpPr>
          <p:cNvPr id="14" name="组合 13"/>
          <p:cNvGrpSpPr/>
          <p:nvPr>
            <p:custDataLst>
              <p:tags r:id="rId6"/>
            </p:custDataLst>
          </p:nvPr>
        </p:nvGrpSpPr>
        <p:grpSpPr>
          <a:xfrm>
            <a:off x="5519648" y="2528620"/>
            <a:ext cx="1381301" cy="660366"/>
            <a:chOff x="5519936" y="1488468"/>
            <a:chExt cx="1381373" cy="6604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5" name="平行四边形 14"/>
            <p:cNvSpPr/>
            <p:nvPr>
              <p:custDataLst>
                <p:tags r:id="rId7"/>
              </p:custDataLst>
            </p:nvPr>
          </p:nvSpPr>
          <p:spPr>
            <a:xfrm>
              <a:off x="5519936" y="1488468"/>
              <a:ext cx="1381373" cy="660400"/>
            </a:xfrm>
            <a:prstGeom prst="parallelogram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" name="文本框 15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5597600" y="1541909"/>
              <a:ext cx="1086759" cy="58359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9pPr>
            </a:lstStyle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2865755" algn="l"/>
                </a:tabLst>
                <a:defRPr/>
              </a:pP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Arial Black" panose="020B0A04020102020204" pitchFamily="34" charset="0"/>
                  <a:ea typeface="微软雅黑" panose="020B0503020204020204" charset="-122"/>
                  <a:cs typeface="+mn-cs"/>
                  <a:sym typeface="Calibri" panose="020F0502020204030204" charset="0"/>
                </a:rPr>
                <a:t>02</a:t>
              </a:r>
              <a:endPara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rial Black" panose="020B0A04020102020204" pitchFamily="34" charset="0"/>
                <a:ea typeface="微软雅黑" panose="020B0503020204020204" charset="-122"/>
                <a:cs typeface="+mn-cs"/>
                <a:sym typeface="Calibri" panose="020F0502020204030204" charset="0"/>
              </a:endParaRPr>
            </a:p>
          </p:txBody>
        </p:sp>
      </p:grpSp>
      <p:grpSp>
        <p:nvGrpSpPr>
          <p:cNvPr id="17" name="组合 16"/>
          <p:cNvGrpSpPr/>
          <p:nvPr>
            <p:custDataLst>
              <p:tags r:id="rId9"/>
            </p:custDataLst>
          </p:nvPr>
        </p:nvGrpSpPr>
        <p:grpSpPr>
          <a:xfrm>
            <a:off x="5450007" y="3944703"/>
            <a:ext cx="1381301" cy="660366"/>
            <a:chOff x="5519936" y="1488468"/>
            <a:chExt cx="1381373" cy="6604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" name="平行四边形 17"/>
            <p:cNvSpPr/>
            <p:nvPr>
              <p:custDataLst>
                <p:tags r:id="rId10"/>
              </p:custDataLst>
            </p:nvPr>
          </p:nvSpPr>
          <p:spPr>
            <a:xfrm>
              <a:off x="5519936" y="1488468"/>
              <a:ext cx="1381373" cy="660400"/>
            </a:xfrm>
            <a:prstGeom prst="parallelogram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文本框 18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5597600" y="1541909"/>
              <a:ext cx="1086759" cy="58359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9pPr>
            </a:lstStyle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2865755" algn="l"/>
                </a:tabLst>
                <a:defRPr/>
              </a:pP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Arial Black" panose="020B0A04020102020204" pitchFamily="34" charset="0"/>
                  <a:ea typeface="微软雅黑" panose="020B0503020204020204" charset="-122"/>
                  <a:cs typeface="+mn-cs"/>
                  <a:sym typeface="Calibri" panose="020F0502020204030204" charset="0"/>
                </a:rPr>
                <a:t>03</a:t>
              </a:r>
              <a:endPara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rial Black" panose="020B0A04020102020204" pitchFamily="34" charset="0"/>
                <a:ea typeface="微软雅黑" panose="020B0503020204020204" charset="-122"/>
                <a:cs typeface="+mn-cs"/>
                <a:sym typeface="Calibri" panose="020F0502020204030204" charset="0"/>
              </a:endParaRPr>
            </a:p>
          </p:txBody>
        </p:sp>
      </p:grpSp>
      <p:grpSp>
        <p:nvGrpSpPr>
          <p:cNvPr id="20" name="组合 19"/>
          <p:cNvGrpSpPr/>
          <p:nvPr>
            <p:custDataLst>
              <p:tags r:id="rId12"/>
            </p:custDataLst>
          </p:nvPr>
        </p:nvGrpSpPr>
        <p:grpSpPr>
          <a:xfrm>
            <a:off x="5519647" y="5360787"/>
            <a:ext cx="1381301" cy="660366"/>
            <a:chOff x="5519936" y="1488468"/>
            <a:chExt cx="1381373" cy="6604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1" name="平行四边形 20"/>
            <p:cNvSpPr/>
            <p:nvPr>
              <p:custDataLst>
                <p:tags r:id="rId13"/>
              </p:custDataLst>
            </p:nvPr>
          </p:nvSpPr>
          <p:spPr>
            <a:xfrm>
              <a:off x="5519936" y="1488468"/>
              <a:ext cx="1381373" cy="660400"/>
            </a:xfrm>
            <a:prstGeom prst="parallelogram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" name="文本框 21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5597600" y="1541909"/>
              <a:ext cx="1086759" cy="58359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charset="-122"/>
                </a:defRPr>
              </a:lvl9pPr>
            </a:lstStyle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2865755" algn="l"/>
                </a:tabLst>
                <a:defRPr/>
              </a:pP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Arial Black" panose="020B0A04020102020204" pitchFamily="34" charset="0"/>
                  <a:ea typeface="微软雅黑" panose="020B0503020204020204" charset="-122"/>
                  <a:cs typeface="+mn-cs"/>
                  <a:sym typeface="Calibri" panose="020F0502020204030204" charset="0"/>
                </a:rPr>
                <a:t>04</a:t>
              </a:r>
              <a:endPara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rial Black" panose="020B0A04020102020204" pitchFamily="34" charset="0"/>
                <a:ea typeface="微软雅黑" panose="020B0503020204020204" charset="-122"/>
                <a:cs typeface="+mn-cs"/>
                <a:sym typeface="Calibri" panose="020F0502020204030204" charset="0"/>
              </a:endParaRPr>
            </a:p>
          </p:txBody>
        </p:sp>
      </p:grpSp>
      <p:sp>
        <p:nvSpPr>
          <p:cNvPr id="31" name="文本框 6"/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7114804" y="1171693"/>
            <a:ext cx="30276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1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风电叶片缺陷检测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5" name="文本框 6"/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7224009" y="2642911"/>
            <a:ext cx="37388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文献调研与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数据集收集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8" name="文本框 6"/>
          <p:cNvSpPr txBox="1"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7470369" y="4055076"/>
            <a:ext cx="23164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拟研究的方案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1" name="文本框 6"/>
          <p:cNvSpPr txBox="1"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8006903" y="5432957"/>
            <a:ext cx="100012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总结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813034" y="6446955"/>
            <a:ext cx="2093317" cy="334470"/>
          </a:xfrm>
          <a:prstGeom prst="rect">
            <a:avLst/>
          </a:prstGeom>
        </p:spPr>
      </p:pic>
      <p:grpSp>
        <p:nvGrpSpPr>
          <p:cNvPr id="43" name="组合 42"/>
          <p:cNvGrpSpPr/>
          <p:nvPr/>
        </p:nvGrpSpPr>
        <p:grpSpPr>
          <a:xfrm>
            <a:off x="9114290" y="102906"/>
            <a:ext cx="2879158" cy="743434"/>
            <a:chOff x="825667" y="458497"/>
            <a:chExt cx="4856203" cy="1253932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825667" y="458497"/>
              <a:ext cx="1253932" cy="1253932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7" name="矩形 46"/>
            <p:cNvSpPr/>
            <p:nvPr/>
          </p:nvSpPr>
          <p:spPr>
            <a:xfrm>
              <a:off x="2085463" y="1172848"/>
              <a:ext cx="3596407" cy="36094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>
                <a:defRPr/>
              </a:pPr>
              <a:r>
                <a:rPr lang="en-US" altLang="zh-CN" sz="800" b="1" dirty="0">
                  <a:solidFill>
                    <a:prstClr val="black"/>
                  </a:solidFill>
                </a:rPr>
                <a:t>BEIHANG UNIVERSITY</a:t>
              </a:r>
              <a:endParaRPr lang="en-US" altLang="zh-CN" sz="800" b="1" dirty="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14:gallery dir="l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7492" y="140921"/>
            <a:ext cx="7019563" cy="7019563"/>
          </a:xfrm>
          <a:prstGeom prst="rect">
            <a:avLst/>
          </a:prstGeom>
        </p:spPr>
      </p:pic>
      <p:sp>
        <p:nvSpPr>
          <p:cNvPr id="2" name="文本占位符 3"/>
          <p:cNvSpPr txBox="1"/>
          <p:nvPr/>
        </p:nvSpPr>
        <p:spPr>
          <a:xfrm>
            <a:off x="6435744" y="779345"/>
            <a:ext cx="4256462" cy="1612816"/>
          </a:xfrm>
          <a:prstGeom prst="rect">
            <a:avLst/>
          </a:prstGeom>
        </p:spPr>
        <p:txBody>
          <a:bodyPr vert="horz" lIns="91435" tIns="45717" rIns="91435" bIns="45717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000" b="1" kern="1200"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99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effectLst/>
                <a:uLnTx/>
                <a:uFillTx/>
                <a:latin typeface="Arial Black" panose="020B0A04020102020204" pitchFamily="34" charset="0"/>
                <a:ea typeface="微软雅黑" panose="020B0503020204020204" charset="-122"/>
                <a:cs typeface="+mn-cs"/>
              </a:rPr>
              <a:t>01</a:t>
            </a:r>
            <a:endParaRPr kumimoji="0" lang="zh-CN" altLang="en-US" sz="19900" b="1" i="0" u="none" strike="noStrike" kern="1200" cap="none" spc="0" normalizeH="0" baseline="0" noProof="0" dirty="0">
              <a:ln>
                <a:noFill/>
              </a:ln>
              <a:gradFill>
                <a:gsLst>
                  <a:gs pos="36000">
                    <a:srgbClr val="024282"/>
                  </a:gs>
                  <a:gs pos="100000">
                    <a:srgbClr val="2764A7">
                      <a:lumMod val="15000"/>
                      <a:lumOff val="85000"/>
                      <a:alpha val="27000"/>
                    </a:srgbClr>
                  </a:gs>
                </a:gsLst>
                <a:lin ang="5400000" scaled="0"/>
              </a:gradFill>
              <a:effectLst/>
              <a:uLnTx/>
              <a:uFillTx/>
              <a:latin typeface="Arial Black" panose="020B0A040201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3" name="文本占位符 4"/>
          <p:cNvSpPr txBox="1"/>
          <p:nvPr/>
        </p:nvSpPr>
        <p:spPr>
          <a:xfrm>
            <a:off x="203824" y="3246764"/>
            <a:ext cx="9846432" cy="660366"/>
          </a:xfrm>
          <a:prstGeom prst="rect">
            <a:avLst/>
          </a:prstGeom>
        </p:spPr>
        <p:txBody>
          <a:bodyPr vert="horz" lIns="91435" tIns="45717" rIns="91435" bIns="45717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b="1" kern="120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6600" noProof="0" dirty="0">
                <a:ln>
                  <a:noFill/>
                </a:ln>
                <a:effectLst/>
                <a:uLnTx/>
                <a:uFillTx/>
                <a:sym typeface="+mn-ea"/>
              </a:rPr>
              <a:t>风电叶片缺陷检测</a:t>
            </a:r>
            <a:endParaRPr kumimoji="0" lang="zh-CN" altLang="en-US" sz="66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-3049397" y="-2033529"/>
            <a:ext cx="7488982" cy="4794907"/>
            <a:chOff x="-3802743" y="-2148114"/>
            <a:chExt cx="7489372" cy="4795157"/>
          </a:xfrm>
        </p:grpSpPr>
        <p:sp>
          <p:nvSpPr>
            <p:cNvPr id="5" name="平行四边形 4"/>
            <p:cNvSpPr/>
            <p:nvPr/>
          </p:nvSpPr>
          <p:spPr>
            <a:xfrm>
              <a:off x="-3802743" y="-2148114"/>
              <a:ext cx="7489372" cy="4795157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 flipH="1" flipV="1">
            <a:off x="7823784" y="4149042"/>
            <a:ext cx="7488982" cy="4650899"/>
            <a:chOff x="-3802743" y="-2004098"/>
            <a:chExt cx="7489372" cy="4651141"/>
          </a:xfrm>
        </p:grpSpPr>
        <p:sp>
          <p:nvSpPr>
            <p:cNvPr id="8" name="平行四边形 7"/>
            <p:cNvSpPr/>
            <p:nvPr/>
          </p:nvSpPr>
          <p:spPr>
            <a:xfrm>
              <a:off x="-3802743" y="-2004098"/>
              <a:ext cx="7489372" cy="4651141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平行四边形 8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6" name="直接连接符 15"/>
          <p:cNvCxnSpPr/>
          <p:nvPr/>
        </p:nvCxnSpPr>
        <p:spPr>
          <a:xfrm flipV="1">
            <a:off x="417459" y="4293051"/>
            <a:ext cx="8434901" cy="13334"/>
          </a:xfrm>
          <a:prstGeom prst="line">
            <a:avLst/>
          </a:prstGeom>
          <a:ln w="285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0115" y="6274109"/>
            <a:ext cx="2583792" cy="412837"/>
          </a:xfrm>
          <a:prstGeom prst="rect">
            <a:avLst/>
          </a:prstGeom>
        </p:spPr>
      </p:pic>
      <p:grpSp>
        <p:nvGrpSpPr>
          <p:cNvPr id="23" name="组合 22"/>
          <p:cNvGrpSpPr/>
          <p:nvPr/>
        </p:nvGrpSpPr>
        <p:grpSpPr>
          <a:xfrm>
            <a:off x="9114290" y="102906"/>
            <a:ext cx="2879158" cy="743434"/>
            <a:chOff x="825667" y="458497"/>
            <a:chExt cx="4856203" cy="1253932"/>
          </a:xfrm>
        </p:grpSpPr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825667" y="458497"/>
              <a:ext cx="1253932" cy="1253932"/>
            </a:xfrm>
            <a:prstGeom prst="rect">
              <a:avLst/>
            </a:prstGeom>
          </p:spPr>
        </p:pic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26" name="矩形 25"/>
            <p:cNvSpPr/>
            <p:nvPr/>
          </p:nvSpPr>
          <p:spPr>
            <a:xfrm>
              <a:off x="2085463" y="1172848"/>
              <a:ext cx="3596407" cy="36094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>
                <a:defRPr/>
              </a:pPr>
              <a:r>
                <a:rPr lang="en-US" altLang="zh-CN" sz="800" b="1" dirty="0">
                  <a:solidFill>
                    <a:prstClr val="black"/>
                  </a:solidFill>
                </a:rPr>
                <a:t>BEIHANG UNIVERSITY</a:t>
              </a:r>
              <a:endParaRPr lang="en-US" altLang="zh-CN" sz="800" b="1" dirty="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14:gallery dir="l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44" y="116806"/>
            <a:ext cx="629839" cy="612736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21" y="809810"/>
            <a:ext cx="11488202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701" y="193844"/>
            <a:ext cx="6125526" cy="612743"/>
          </a:xfrm>
          <a:prstGeom prst="rect">
            <a:avLst/>
          </a:prstGeom>
        </p:spPr>
        <p:txBody>
          <a:bodyPr vert="horz" lIns="91435" tIns="45717" rIns="91435" bIns="45717" rtlCol="0">
            <a:normAutofit fontScale="8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>
                <a:sym typeface="+mn-ea"/>
              </a:rPr>
              <a:t>风电叶片检测：为什么重要？为什么难？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813114" y="6398540"/>
            <a:ext cx="108394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JUNE 12</a:t>
            </a:r>
            <a:r>
              <a:rPr kumimoji="0" lang="en-US" altLang="zh-CN" b="1" i="0" u="none" strike="noStrike" kern="120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th</a:t>
            </a:r>
            <a:endParaRPr kumimoji="0" lang="zh-CN" altLang="en-US" b="1" i="0" u="none" strike="noStrike" kern="1200" cap="none" spc="0" normalizeH="0" baseline="3000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5255" y="6444148"/>
            <a:ext cx="2117156" cy="338278"/>
          </a:xfrm>
          <a:prstGeom prst="rect">
            <a:avLst/>
          </a:prstGeom>
        </p:spPr>
      </p:pic>
      <p:grpSp>
        <p:nvGrpSpPr>
          <p:cNvPr id="43" name="组合 42"/>
          <p:cNvGrpSpPr/>
          <p:nvPr/>
        </p:nvGrpSpPr>
        <p:grpSpPr>
          <a:xfrm>
            <a:off x="9153728" y="116806"/>
            <a:ext cx="2764774" cy="612744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094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BEIHANG UNIVERSITY</a:t>
              </a:r>
              <a:endPara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3" name="矩形 12"/>
          <p:cNvSpPr/>
          <p:nvPr/>
        </p:nvSpPr>
        <p:spPr>
          <a:xfrm>
            <a:off x="383631" y="1213377"/>
            <a:ext cx="11472360" cy="4701577"/>
          </a:xfrm>
          <a:prstGeom prst="rect">
            <a:avLst/>
          </a:prstGeom>
          <a:solidFill>
            <a:srgbClr val="36254B">
              <a:alpha val="1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35" tIns="45717" rIns="91435" bIns="45717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endParaRPr lang="zh-CN" altLang="en-US" ker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4" name="组合 13"/>
          <p:cNvGrpSpPr/>
          <p:nvPr>
            <p:custDataLst>
              <p:tags r:id="rId5"/>
            </p:custDataLst>
          </p:nvPr>
        </p:nvGrpSpPr>
        <p:grpSpPr>
          <a:xfrm>
            <a:off x="766332" y="1504521"/>
            <a:ext cx="2498688" cy="779254"/>
            <a:chOff x="827467" y="3115218"/>
            <a:chExt cx="1915595" cy="597408"/>
          </a:xfrm>
          <a:solidFill>
            <a:srgbClr val="0675A0"/>
          </a:solidFill>
        </p:grpSpPr>
        <p:sp>
          <p:nvSpPr>
            <p:cNvPr id="15" name="矩形 14"/>
            <p:cNvSpPr/>
            <p:nvPr>
              <p:custDataLst>
                <p:tags r:id="rId6"/>
              </p:custDataLst>
            </p:nvPr>
          </p:nvSpPr>
          <p:spPr>
            <a:xfrm>
              <a:off x="827467" y="3115218"/>
              <a:ext cx="1915595" cy="597408"/>
            </a:xfrm>
            <a:prstGeom prst="rect">
              <a:avLst/>
            </a:prstGeom>
            <a:solidFill>
              <a:srgbClr val="02428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35" tIns="45717" rIns="91435" bIns="45717" numCol="1" spcCol="0" rtlCol="0" fromWordArt="0" anchor="ctr" anchorCtr="0" forceAA="0" compatLnSpc="1">
              <a:no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" name="文本框 4"/>
            <p:cNvSpPr txBox="1"/>
            <p:nvPr>
              <p:custDataLst>
                <p:tags r:id="rId7"/>
              </p:custDataLst>
            </p:nvPr>
          </p:nvSpPr>
          <p:spPr>
            <a:xfrm>
              <a:off x="840123" y="3260769"/>
              <a:ext cx="1902867" cy="305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zh-CN" altLang="en-US" sz="2000" b="1" kern="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尺度极差异</a:t>
              </a:r>
              <a:r>
                <a:rPr lang="zh-CN" altLang="en-US" sz="2000" b="1" kern="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极大</a:t>
              </a:r>
              <a:endParaRPr lang="zh-CN" altLang="en-US" sz="2000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8"/>
            </p:custDataLst>
          </p:nvPr>
        </p:nvGrpSpPr>
        <p:grpSpPr>
          <a:xfrm>
            <a:off x="3486011" y="1504521"/>
            <a:ext cx="2498688" cy="779254"/>
            <a:chOff x="3970073" y="2147212"/>
            <a:chExt cx="1915595" cy="597408"/>
          </a:xfrm>
        </p:grpSpPr>
        <p:sp>
          <p:nvSpPr>
            <p:cNvPr id="19" name="矩形 18"/>
            <p:cNvSpPr/>
            <p:nvPr>
              <p:custDataLst>
                <p:tags r:id="rId9"/>
              </p:custDataLst>
            </p:nvPr>
          </p:nvSpPr>
          <p:spPr>
            <a:xfrm>
              <a:off x="3970073" y="2147212"/>
              <a:ext cx="1915595" cy="597408"/>
            </a:xfrm>
            <a:prstGeom prst="rect">
              <a:avLst/>
            </a:prstGeom>
            <a:solidFill>
              <a:srgbClr val="02428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35" tIns="45717" rIns="91435" bIns="45717" numCol="1" spcCol="0" rtlCol="0" fromWordArt="0" anchor="ctr" anchorCtr="0" forceAA="0" compatLnSpc="1">
              <a:no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" name="文本框 19"/>
            <p:cNvSpPr txBox="1"/>
            <p:nvPr>
              <p:custDataLst>
                <p:tags r:id="rId10"/>
              </p:custDataLst>
            </p:nvPr>
          </p:nvSpPr>
          <p:spPr>
            <a:xfrm>
              <a:off x="3993439" y="2292763"/>
              <a:ext cx="1869279" cy="305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zh-CN" altLang="en-US" sz="2000" b="1" kern="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背景</a:t>
              </a:r>
              <a:r>
                <a:rPr lang="zh-CN" altLang="en-US" sz="2000" b="1" kern="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高度复杂</a:t>
              </a:r>
              <a:endParaRPr lang="zh-CN" altLang="en-US" sz="2000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1" name="组合 20"/>
          <p:cNvGrpSpPr/>
          <p:nvPr>
            <p:custDataLst>
              <p:tags r:id="rId11"/>
            </p:custDataLst>
          </p:nvPr>
        </p:nvGrpSpPr>
        <p:grpSpPr>
          <a:xfrm>
            <a:off x="678022" y="3554301"/>
            <a:ext cx="2713849" cy="779254"/>
            <a:chOff x="5458523" y="3115218"/>
            <a:chExt cx="2080546" cy="597408"/>
          </a:xfrm>
          <a:solidFill>
            <a:srgbClr val="C00000"/>
          </a:solidFill>
        </p:grpSpPr>
        <p:sp>
          <p:nvSpPr>
            <p:cNvPr id="22" name="矩形 21"/>
            <p:cNvSpPr/>
            <p:nvPr>
              <p:custDataLst>
                <p:tags r:id="rId12"/>
              </p:custDataLst>
            </p:nvPr>
          </p:nvSpPr>
          <p:spPr>
            <a:xfrm>
              <a:off x="5534462" y="3115218"/>
              <a:ext cx="1915595" cy="597408"/>
            </a:xfrm>
            <a:prstGeom prst="rect">
              <a:avLst/>
            </a:prstGeom>
            <a:solidFill>
              <a:srgbClr val="02428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35" tIns="45717" rIns="91435" bIns="45717" numCol="1" spcCol="0" rtlCol="0" fromWordArt="0" anchor="ctr" anchorCtr="0" forceAA="0" compatLnSpc="1">
              <a:no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3" name="文本框 21"/>
            <p:cNvSpPr txBox="1"/>
            <p:nvPr>
              <p:custDataLst>
                <p:tags r:id="rId13"/>
              </p:custDataLst>
            </p:nvPr>
          </p:nvSpPr>
          <p:spPr>
            <a:xfrm>
              <a:off x="5458523" y="3260769"/>
              <a:ext cx="2080546" cy="305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zh-CN" altLang="en-US" sz="2000" b="1" kern="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部署环境</a:t>
              </a:r>
              <a:r>
                <a:rPr lang="zh-CN" altLang="en-US" sz="2000" b="1" kern="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受限</a:t>
              </a:r>
              <a:endParaRPr lang="zh-CN" altLang="en-US" sz="2000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4" name="组合 23"/>
          <p:cNvGrpSpPr/>
          <p:nvPr>
            <p:custDataLst>
              <p:tags r:id="rId14"/>
            </p:custDataLst>
          </p:nvPr>
        </p:nvGrpSpPr>
        <p:grpSpPr>
          <a:xfrm>
            <a:off x="3496754" y="3554301"/>
            <a:ext cx="2498688" cy="779254"/>
            <a:chOff x="8270100" y="3115218"/>
            <a:chExt cx="1915595" cy="597408"/>
          </a:xfrm>
          <a:solidFill>
            <a:srgbClr val="C00000"/>
          </a:solidFill>
        </p:grpSpPr>
        <p:sp>
          <p:nvSpPr>
            <p:cNvPr id="25" name="矩形 24"/>
            <p:cNvSpPr/>
            <p:nvPr>
              <p:custDataLst>
                <p:tags r:id="rId15"/>
              </p:custDataLst>
            </p:nvPr>
          </p:nvSpPr>
          <p:spPr>
            <a:xfrm>
              <a:off x="8270100" y="3115218"/>
              <a:ext cx="1915595" cy="597408"/>
            </a:xfrm>
            <a:prstGeom prst="rect">
              <a:avLst/>
            </a:prstGeom>
            <a:solidFill>
              <a:srgbClr val="02428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35" tIns="45717" rIns="91435" bIns="45717" numCol="1" spcCol="0" rtlCol="0" fromWordArt="0" anchor="ctr" anchorCtr="0" forceAA="0" compatLnSpc="1">
              <a:no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6" name="文本框 22"/>
            <p:cNvSpPr txBox="1"/>
            <p:nvPr>
              <p:custDataLst>
                <p:tags r:id="rId16"/>
              </p:custDataLst>
            </p:nvPr>
          </p:nvSpPr>
          <p:spPr>
            <a:xfrm>
              <a:off x="8445345" y="3260769"/>
              <a:ext cx="1672128" cy="305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zh-CN" altLang="en-US" sz="2000" b="1" kern="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标注数据</a:t>
              </a:r>
              <a:r>
                <a:rPr lang="zh-CN" altLang="en-US" sz="2000" b="1" kern="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</a:rPr>
                <a:t>稀缺</a:t>
              </a:r>
              <a:endParaRPr lang="zh-CN" altLang="en-US" sz="2000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7" name="矩形 26"/>
          <p:cNvSpPr/>
          <p:nvPr>
            <p:custDataLst>
              <p:tags r:id="rId17"/>
            </p:custDataLst>
          </p:nvPr>
        </p:nvSpPr>
        <p:spPr>
          <a:xfrm>
            <a:off x="785495" y="2464435"/>
            <a:ext cx="2498725" cy="955040"/>
          </a:xfrm>
          <a:prstGeom prst="rect">
            <a:avLst/>
          </a:prstGeom>
          <a:noFill/>
          <a:ln w="12700" cap="flat" cmpd="sng" algn="ctr">
            <a:solidFill>
              <a:srgbClr val="02428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35" tIns="45717" rIns="91435" bIns="45717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endParaRPr lang="zh-CN" altLang="en-US" ker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矩形 27"/>
          <p:cNvSpPr/>
          <p:nvPr>
            <p:custDataLst>
              <p:tags r:id="rId18"/>
            </p:custDataLst>
          </p:nvPr>
        </p:nvSpPr>
        <p:spPr>
          <a:xfrm>
            <a:off x="3456305" y="2464435"/>
            <a:ext cx="2498725" cy="939165"/>
          </a:xfrm>
          <a:prstGeom prst="rect">
            <a:avLst/>
          </a:prstGeom>
          <a:noFill/>
          <a:ln w="12700" cap="flat" cmpd="sng" algn="ctr">
            <a:solidFill>
              <a:srgbClr val="02428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35" tIns="45717" rIns="91435" bIns="45717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endParaRPr lang="zh-CN" altLang="en-US" ker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矩形 28"/>
          <p:cNvSpPr/>
          <p:nvPr>
            <p:custDataLst>
              <p:tags r:id="rId19"/>
            </p:custDataLst>
          </p:nvPr>
        </p:nvSpPr>
        <p:spPr>
          <a:xfrm>
            <a:off x="792480" y="4514215"/>
            <a:ext cx="2498725" cy="1064895"/>
          </a:xfrm>
          <a:prstGeom prst="rect">
            <a:avLst/>
          </a:prstGeom>
          <a:noFill/>
          <a:ln w="12700" cap="flat" cmpd="sng" algn="ctr">
            <a:solidFill>
              <a:srgbClr val="02428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35" tIns="45717" rIns="91435" bIns="45717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endParaRPr lang="zh-CN" altLang="en-US" ker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矩形 29"/>
          <p:cNvSpPr/>
          <p:nvPr>
            <p:custDataLst>
              <p:tags r:id="rId20"/>
            </p:custDataLst>
          </p:nvPr>
        </p:nvSpPr>
        <p:spPr>
          <a:xfrm>
            <a:off x="3509645" y="4514215"/>
            <a:ext cx="2498725" cy="1239520"/>
          </a:xfrm>
          <a:prstGeom prst="rect">
            <a:avLst/>
          </a:prstGeom>
          <a:noFill/>
          <a:ln w="12700" cap="flat" cmpd="sng" algn="ctr">
            <a:solidFill>
              <a:srgbClr val="02428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35" tIns="45717" rIns="91435" bIns="45717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endParaRPr lang="zh-CN" altLang="en-US" ker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24"/>
          <p:cNvSpPr txBox="1"/>
          <p:nvPr>
            <p:custDataLst>
              <p:tags r:id="rId21"/>
            </p:custDataLst>
          </p:nvPr>
        </p:nvSpPr>
        <p:spPr>
          <a:xfrm>
            <a:off x="857069" y="2498756"/>
            <a:ext cx="2602575" cy="1291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kern="0" dirty="0">
                <a:solidFill>
                  <a:srgbClr val="06276F"/>
                </a:solidFill>
                <a:latin typeface="微软雅黑" panose="020B0503020204020204" charset="-122"/>
                <a:ea typeface="微软雅黑" panose="020B0503020204020204" charset="-122"/>
              </a:rPr>
              <a:t>• 微小裂纹仅几</a:t>
            </a:r>
            <a:r>
              <a:rPr lang="en-US" altLang="zh-CN" kern="0" dirty="0">
                <a:solidFill>
                  <a:srgbClr val="06276F"/>
                </a:solidFill>
                <a:latin typeface="微软雅黑" panose="020B0503020204020204" charset="-122"/>
                <a:ea typeface="微软雅黑" panose="020B0503020204020204" charset="-122"/>
              </a:rPr>
              <a:t>px</a:t>
            </a:r>
            <a:r>
              <a:rPr lang="zh-CN" altLang="en-US" kern="0" dirty="0">
                <a:solidFill>
                  <a:srgbClr val="06276F"/>
                </a:solidFill>
                <a:latin typeface="微软雅黑" panose="020B0503020204020204" charset="-122"/>
                <a:ea typeface="微软雅黑" panose="020B0503020204020204" charset="-122"/>
              </a:rPr>
              <a:t>        • 大面积侵蚀数百</a:t>
            </a:r>
            <a:r>
              <a:rPr lang="en-US" altLang="zh-CN" kern="0" dirty="0">
                <a:solidFill>
                  <a:srgbClr val="06276F"/>
                </a:solidFill>
                <a:latin typeface="微软雅黑" panose="020B0503020204020204" charset="-122"/>
                <a:ea typeface="微软雅黑" panose="020B0503020204020204" charset="-122"/>
              </a:rPr>
              <a:t>px</a:t>
            </a:r>
            <a:r>
              <a:rPr lang="zh-CN" altLang="en-US" sz="1600" kern="0" dirty="0">
                <a:solidFill>
                  <a:srgbClr val="06276F"/>
                </a:solidFill>
                <a:latin typeface="微软雅黑" panose="020B0503020204020204" charset="-122"/>
                <a:ea typeface="微软雅黑" panose="020B0503020204020204" charset="-122"/>
              </a:rPr>
              <a:t>         </a:t>
            </a:r>
            <a:endParaRPr lang="zh-CN" altLang="en-US" sz="1600" kern="0" dirty="0">
              <a:solidFill>
                <a:srgbClr val="06276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defRPr/>
            </a:pPr>
            <a:endParaRPr lang="zh-CN" altLang="en-US" sz="1600" kern="0" dirty="0">
              <a:solidFill>
                <a:srgbClr val="06276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24"/>
          <p:cNvSpPr txBox="1"/>
          <p:nvPr>
            <p:custDataLst>
              <p:tags r:id="rId22"/>
            </p:custDataLst>
          </p:nvPr>
        </p:nvSpPr>
        <p:spPr>
          <a:xfrm>
            <a:off x="3471549" y="2498756"/>
            <a:ext cx="2354571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kern="0" dirty="0">
                <a:solidFill>
                  <a:srgbClr val="06276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• 天空</a:t>
            </a:r>
            <a:r>
              <a:rPr lang="en-US" altLang="zh-CN" kern="0" dirty="0">
                <a:solidFill>
                  <a:srgbClr val="06276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r>
              <a:rPr lang="zh-CN" altLang="en-US" kern="0" dirty="0">
                <a:solidFill>
                  <a:srgbClr val="06276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塔吊</a:t>
            </a:r>
            <a:r>
              <a:rPr lang="zh-CN" altLang="en-US" kern="0" dirty="0">
                <a:solidFill>
                  <a:srgbClr val="06276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干扰</a:t>
            </a:r>
            <a:endParaRPr lang="zh-CN" altLang="en-US" kern="0" dirty="0">
              <a:solidFill>
                <a:srgbClr val="06276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kern="0" dirty="0">
                <a:solidFill>
                  <a:srgbClr val="06276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• 缺陷对比度</a:t>
            </a:r>
            <a:r>
              <a:rPr lang="zh-CN" altLang="en-US" kern="0" dirty="0">
                <a:solidFill>
                  <a:srgbClr val="06276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低</a:t>
            </a:r>
            <a:endParaRPr lang="zh-CN" altLang="en-US" kern="0" dirty="0">
              <a:solidFill>
                <a:srgbClr val="06276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3" name="文本框 24"/>
          <p:cNvSpPr txBox="1"/>
          <p:nvPr>
            <p:custDataLst>
              <p:tags r:id="rId23"/>
            </p:custDataLst>
          </p:nvPr>
        </p:nvSpPr>
        <p:spPr>
          <a:xfrm>
            <a:off x="717865" y="4548553"/>
            <a:ext cx="2810364" cy="92197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kern="0" dirty="0">
                <a:solidFill>
                  <a:srgbClr val="06276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• 无人机载荷</a:t>
            </a:r>
            <a:r>
              <a:rPr lang="zh-CN" altLang="en-US" kern="0" dirty="0">
                <a:solidFill>
                  <a:srgbClr val="06276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有限</a:t>
            </a:r>
            <a:endParaRPr lang="zh-CN" altLang="en-US" kern="0" dirty="0">
              <a:solidFill>
                <a:srgbClr val="06276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kern="0" dirty="0">
                <a:solidFill>
                  <a:srgbClr val="06276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• 机载电脑算力功耗</a:t>
            </a:r>
            <a:r>
              <a:rPr lang="zh-CN" altLang="en-US" kern="0" dirty="0">
                <a:solidFill>
                  <a:srgbClr val="06276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有限</a:t>
            </a:r>
            <a:endParaRPr lang="zh-CN" altLang="en-US" kern="0" dirty="0">
              <a:solidFill>
                <a:srgbClr val="06276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4" name="文本框 24"/>
          <p:cNvSpPr txBox="1"/>
          <p:nvPr>
            <p:custDataLst>
              <p:tags r:id="rId24"/>
            </p:custDataLst>
          </p:nvPr>
        </p:nvSpPr>
        <p:spPr>
          <a:xfrm>
            <a:off x="3502357" y="4548536"/>
            <a:ext cx="2403324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600" kern="0" dirty="0">
                <a:solidFill>
                  <a:srgbClr val="06276F"/>
                </a:solidFill>
                <a:latin typeface="微软雅黑" panose="020B0503020204020204" charset="-122"/>
                <a:ea typeface="微软雅黑" panose="020B0503020204020204" charset="-122"/>
              </a:rPr>
              <a:t>• 样本不平衡</a:t>
            </a:r>
            <a:r>
              <a:rPr lang="zh-CN" altLang="en-US" sz="1600" b="1" kern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1600" kern="0" dirty="0">
                <a:solidFill>
                  <a:srgbClr val="06276F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zh-CN" altLang="en-US" sz="1600" kern="0" dirty="0">
              <a:solidFill>
                <a:srgbClr val="06276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sz="1600" kern="0" dirty="0">
                <a:solidFill>
                  <a:srgbClr val="06276F"/>
                </a:solidFill>
                <a:latin typeface="微软雅黑" panose="020B0503020204020204" charset="-122"/>
                <a:ea typeface="微软雅黑" panose="020B0503020204020204" charset="-122"/>
              </a:rPr>
              <a:t>• 专业标注成本高                • 缺陷形态</a:t>
            </a:r>
            <a:r>
              <a:rPr lang="zh-CN" altLang="en-US" sz="1600" kern="0" dirty="0">
                <a:solidFill>
                  <a:srgbClr val="06276F"/>
                </a:solidFill>
                <a:latin typeface="微软雅黑" panose="020B0503020204020204" charset="-122"/>
                <a:ea typeface="微软雅黑" panose="020B0503020204020204" charset="-122"/>
              </a:rPr>
              <a:t>多样</a:t>
            </a:r>
            <a:endParaRPr lang="zh-CN" altLang="en-US" sz="1600" kern="0" dirty="0">
              <a:solidFill>
                <a:srgbClr val="06276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1" name="图片 10" descr="fig02_wind_farm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206490" y="1297305"/>
            <a:ext cx="5269230" cy="2568575"/>
          </a:xfrm>
          <a:prstGeom prst="rect">
            <a:avLst/>
          </a:prstGeom>
        </p:spPr>
      </p:pic>
      <p:sp>
        <p:nvSpPr>
          <p:cNvPr id="37" name="文本框 36"/>
          <p:cNvSpPr txBox="1"/>
          <p:nvPr/>
        </p:nvSpPr>
        <p:spPr>
          <a:xfrm>
            <a:off x="6301105" y="4353560"/>
            <a:ext cx="5827395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rPr sz="1400">
                <a:sym typeface="+mn-ea"/>
              </a:rPr>
              <a:t>全球风电装机 &gt;1000GW，叶片维修成本占 15-20%</a:t>
            </a:r>
            <a:endParaRPr sz="1400">
              <a:sym typeface="+mn-ea"/>
            </a:endParaRP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rPr sz="1400">
                <a:sym typeface="+mn-ea"/>
              </a:rPr>
              <a:t>传统人工: 单台 2-4 小时，高空风险，漏检率 15-30%</a:t>
            </a:r>
            <a:endParaRPr sz="1400">
              <a:sym typeface="+mn-ea"/>
            </a:endParaRP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rPr sz="1400">
                <a:sym typeface="+mn-ea"/>
              </a:rPr>
              <a:t>AI 自动检测: 无人机 15-30 分钟，mAP &gt;90%</a:t>
            </a:r>
            <a:endParaRPr lang="zh-CN" altLang="en-US" sz="1400" ker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14:gallery dir="l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44" y="116806"/>
            <a:ext cx="629839" cy="612736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21" y="809810"/>
            <a:ext cx="11488202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908638" y="193844"/>
            <a:ext cx="8024712" cy="754976"/>
          </a:xfrm>
          <a:prstGeom prst="rect">
            <a:avLst/>
          </a:prstGeom>
        </p:spPr>
        <p:txBody>
          <a:bodyPr vert="horz" lIns="91435" tIns="45717" rIns="91435" bIns="45717" rtlCol="0">
            <a:normAutofit fontScale="25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fontAlgn="auto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90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论文一：</a:t>
            </a:r>
            <a:r>
              <a:rPr sz="9000">
                <a:sym typeface="+mn-ea"/>
              </a:rPr>
              <a:t>GCB-YOLO (2025) — 轻量化+CA+BiFPN</a:t>
            </a:r>
            <a:endParaRPr sz="9000">
              <a:sym typeface="+mn-ea"/>
            </a:endParaRPr>
          </a:p>
          <a:p>
            <a:pPr marR="0" lvl="0" algn="l" defTabSz="914400" rtl="0" fontAlgn="auto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90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R="0" lvl="0" algn="l" defTabSz="914400" rtl="0" fontAlgn="auto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813114" y="6398540"/>
            <a:ext cx="108394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JUNE 12</a:t>
            </a:r>
            <a:r>
              <a:rPr kumimoji="0" lang="en-US" altLang="zh-CN" b="1" i="0" u="none" strike="noStrike" kern="120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th</a:t>
            </a:r>
            <a:endParaRPr kumimoji="0" lang="zh-CN" altLang="en-US" b="1" i="0" u="none" strike="noStrike" kern="1200" cap="none" spc="0" normalizeH="0" baseline="3000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35263" y="3357884"/>
            <a:ext cx="11627514" cy="3001489"/>
          </a:xfrm>
          <a:prstGeom prst="rect">
            <a:avLst/>
          </a:prstGeom>
          <a:solidFill>
            <a:srgbClr val="024282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grpSp>
        <p:nvGrpSpPr>
          <p:cNvPr id="19" name="组合 18"/>
          <p:cNvGrpSpPr/>
          <p:nvPr/>
        </p:nvGrpSpPr>
        <p:grpSpPr>
          <a:xfrm rot="0">
            <a:off x="401934" y="2856895"/>
            <a:ext cx="1176594" cy="534063"/>
            <a:chOff x="10068105" y="1734537"/>
            <a:chExt cx="1690700" cy="534397"/>
          </a:xfrm>
        </p:grpSpPr>
        <p:grpSp>
          <p:nvGrpSpPr>
            <p:cNvPr id="20" name="组合 19"/>
            <p:cNvGrpSpPr/>
            <p:nvPr/>
          </p:nvGrpSpPr>
          <p:grpSpPr>
            <a:xfrm>
              <a:off x="10068105" y="1734537"/>
              <a:ext cx="1690700" cy="514645"/>
              <a:chOff x="10068105" y="1734537"/>
              <a:chExt cx="1690700" cy="514645"/>
            </a:xfrm>
          </p:grpSpPr>
          <p:sp>
            <p:nvSpPr>
              <p:cNvPr id="22" name="平行四边形 21"/>
              <p:cNvSpPr/>
              <p:nvPr/>
            </p:nvSpPr>
            <p:spPr>
              <a:xfrm>
                <a:off x="10136045" y="1734537"/>
                <a:ext cx="1622760" cy="461665"/>
              </a:xfrm>
              <a:prstGeom prst="parallelogram">
                <a:avLst>
                  <a:gd name="adj" fmla="val 0"/>
                </a:avLst>
              </a:prstGeom>
              <a:noFill/>
              <a:ln w="9525" cap="flat" cmpd="sng" algn="ctr">
                <a:solidFill>
                  <a:srgbClr val="02428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阿里巴巴普惠体 R"/>
                  <a:cs typeface="+mn-cs"/>
                </a:endParaRPr>
              </a:p>
            </p:txBody>
          </p:sp>
          <p:sp>
            <p:nvSpPr>
              <p:cNvPr id="23" name="平行四边形 22"/>
              <p:cNvSpPr/>
              <p:nvPr/>
            </p:nvSpPr>
            <p:spPr>
              <a:xfrm>
                <a:off x="10068105" y="1787517"/>
                <a:ext cx="1622760" cy="461665"/>
              </a:xfrm>
              <a:prstGeom prst="parallelogram">
                <a:avLst>
                  <a:gd name="adj" fmla="val 0"/>
                </a:avLst>
              </a:prstGeom>
              <a:solidFill>
                <a:srgbClr val="02428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阿里巴巴普惠体 R"/>
                  <a:cs typeface="+mn-cs"/>
                </a:endParaRPr>
              </a:p>
            </p:txBody>
          </p:sp>
        </p:grpSp>
        <p:sp>
          <p:nvSpPr>
            <p:cNvPr id="21" name="文本框 20"/>
            <p:cNvSpPr txBox="1"/>
            <p:nvPr/>
          </p:nvSpPr>
          <p:spPr>
            <a:xfrm>
              <a:off x="10280882" y="1734565"/>
              <a:ext cx="1138750" cy="5343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汉仪书魂体简" panose="02010600000101010101" charset="-122"/>
                  <a:ea typeface="汉仪书魂体简" panose="02010600000101010101" charset="-122"/>
                  <a:cs typeface="阿里巴巴和七个小矮人" panose="00000500000000000000" charset="-122"/>
                </a:rPr>
                <a:t>原理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书魂体简" panose="02010600000101010101" charset="-122"/>
                <a:ea typeface="汉仪书魂体简" panose="02010600000101010101" charset="-122"/>
                <a:cs typeface="阿里巴巴和七个小矮人" panose="00000500000000000000" charset="-122"/>
              </a:endParaRPr>
            </a:p>
          </p:txBody>
        </p:sp>
      </p:grpSp>
      <p:sp>
        <p:nvSpPr>
          <p:cNvPr id="35" name="矩形: 圆角 34"/>
          <p:cNvSpPr/>
          <p:nvPr/>
        </p:nvSpPr>
        <p:spPr>
          <a:xfrm>
            <a:off x="549881" y="5662179"/>
            <a:ext cx="3066255" cy="628617"/>
          </a:xfrm>
          <a:prstGeom prst="rect">
            <a:avLst/>
          </a:prstGeom>
          <a:ln w="9525" cap="flat" cmpd="sng" algn="ctr">
            <a:solidFill>
              <a:srgbClr val="024282"/>
            </a:solidFill>
            <a:prstDash val="dash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lIns="71996" tIns="0" rIns="71996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汉仪颜楷简" panose="00020600040101010101" charset="-122"/>
                <a:ea typeface="汉仪颜楷简" panose="00020600040101010101" charset="-122"/>
                <a:cs typeface="方正FW轻吟体 简 M" panose="02010600010101010101" charset="-122"/>
              </a:rPr>
              <a:t>网格切分图像，预留重叠区域，防止目标截断。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汉仪颜楷简" panose="00020600040101010101" charset="-122"/>
              <a:ea typeface="汉仪颜楷简" panose="00020600040101010101" charset="-122"/>
              <a:cs typeface="方正FW轻吟体 简 M" panose="02010600010101010101" charset="-122"/>
            </a:endParaRPr>
          </a:p>
        </p:txBody>
      </p:sp>
      <p:sp>
        <p:nvSpPr>
          <p:cNvPr id="41" name="圆角矩形 6"/>
          <p:cNvSpPr/>
          <p:nvPr/>
        </p:nvSpPr>
        <p:spPr>
          <a:xfrm>
            <a:off x="644984" y="1054333"/>
            <a:ext cx="3177375" cy="490194"/>
          </a:xfrm>
          <a:prstGeom prst="roundRect">
            <a:avLst>
              <a:gd name="adj" fmla="val 37046"/>
            </a:avLst>
          </a:prstGeom>
          <a:gradFill>
            <a:gsLst>
              <a:gs pos="53000">
                <a:srgbClr val="024282"/>
              </a:gs>
              <a:gs pos="95000">
                <a:srgbClr val="024282">
                  <a:alpha val="0"/>
                </a:srgbClr>
              </a:gs>
              <a:gs pos="0">
                <a:srgbClr val="024282"/>
              </a:gs>
            </a:gsLst>
            <a:lin ang="20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755686" y="1073001"/>
            <a:ext cx="31821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2400" b="1">
                <a:solidFill>
                  <a:srgbClr val="A5353A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研究问题</a:t>
            </a:r>
            <a:endParaRPr kumimoji="0" lang="zh-CN" altLang="en-US" sz="2000" b="1" i="1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5255" y="6444148"/>
            <a:ext cx="2117156" cy="338278"/>
          </a:xfrm>
          <a:prstGeom prst="rect">
            <a:avLst/>
          </a:prstGeom>
        </p:spPr>
      </p:pic>
      <p:grpSp>
        <p:nvGrpSpPr>
          <p:cNvPr id="43" name="组合 42"/>
          <p:cNvGrpSpPr/>
          <p:nvPr/>
        </p:nvGrpSpPr>
        <p:grpSpPr>
          <a:xfrm>
            <a:off x="9153728" y="116806"/>
            <a:ext cx="2764774" cy="612744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094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>
                <a:defRPr/>
              </a:pPr>
              <a:r>
                <a:rPr lang="en-US" altLang="zh-CN" sz="800" b="1" dirty="0">
                  <a:solidFill>
                    <a:prstClr val="black"/>
                  </a:solidFill>
                </a:rPr>
                <a:t>BEIHANG UNIVERSITY</a:t>
              </a:r>
              <a:endParaRPr lang="en-US" altLang="zh-CN" sz="800" b="1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364490" y="1723390"/>
            <a:ext cx="11366500" cy="1012190"/>
            <a:chOff x="574" y="2714"/>
            <a:chExt cx="8703" cy="1594"/>
          </a:xfrm>
        </p:grpSpPr>
        <p:sp>
          <p:nvSpPr>
            <p:cNvPr id="8" name="圆角矩形 7"/>
            <p:cNvSpPr/>
            <p:nvPr/>
          </p:nvSpPr>
          <p:spPr>
            <a:xfrm>
              <a:off x="574" y="2714"/>
              <a:ext cx="8703" cy="159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/>
                <a:t>背景</a:t>
              </a:r>
              <a:endParaRPr lang="zh-CN" altLang="en-US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619" y="2782"/>
              <a:ext cx="8358" cy="142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>
                <a:spcAft>
                  <a:spcPts val="400"/>
                </a:spcAft>
                <a:defRPr sz="1300">
                  <a:solidFill>
                    <a:srgbClr val="333333"/>
                  </a:solidFill>
                </a:defRPr>
              </a:pPr>
              <a:r>
                <a:rPr sz="1800">
                  <a:sym typeface="+mn-ea"/>
                </a:rPr>
                <a:t>① GhostNet 轻量化 Backbone: 一半正常卷积 + 一半廉价线性变换 → 参数-50%</a:t>
              </a:r>
              <a:endParaRPr sz="1800">
                <a:sym typeface="+mn-ea"/>
              </a:endParaRPr>
            </a:p>
            <a:p>
              <a:pPr>
                <a:spcAft>
                  <a:spcPts val="400"/>
                </a:spcAft>
                <a:defRPr sz="1300">
                  <a:solidFill>
                    <a:srgbClr val="333333"/>
                  </a:solidFill>
                </a:defRPr>
              </a:pPr>
              <a:r>
                <a:rPr sz="1800">
                  <a:sym typeface="+mn-ea"/>
                </a:rPr>
                <a:t>② CA 坐标注意力: X/Y方向1D池化 → 保留行列坐标，对小目标友好</a:t>
              </a:r>
              <a:endParaRPr sz="1800">
                <a:sym typeface="+mn-ea"/>
              </a:endParaRPr>
            </a:p>
            <a:p>
              <a:pPr>
                <a:spcAft>
                  <a:spcPts val="400"/>
                </a:spcAft>
                <a:defRPr sz="1300">
                  <a:solidFill>
                    <a:srgbClr val="333333"/>
                  </a:solidFill>
                </a:defRPr>
              </a:pPr>
              <a:r>
                <a:rPr sz="1800">
                  <a:sym typeface="+mn-ea"/>
                </a:rPr>
                <a:t>③ BiFPN 加权特征融合: 双向融合 + 可学习权重 → 多尺度信息更充分</a:t>
              </a:r>
              <a:endParaRPr sz="1800">
                <a:sym typeface="+mn-ea"/>
              </a:endParaRPr>
            </a:p>
            <a:p>
              <a:r>
                <a:rPr lang="zh-CN" altLang="en-US" sz="1800">
                  <a:latin typeface="汉仪书魂体简" panose="02010600000101010101" charset="-122"/>
                  <a:ea typeface="汉仪书魂体简" panose="02010600000101010101" charset="-122"/>
                  <a:cs typeface="汉仪书魂体简" panose="02010600000101010101" charset="-122"/>
                </a:rPr>
                <a:t>。</a:t>
              </a:r>
              <a:endParaRPr lang="zh-CN" altLang="en-US" sz="1800">
                <a:latin typeface="汉仪书魂体简" panose="02010600000101010101" charset="-122"/>
                <a:ea typeface="汉仪书魂体简" panose="02010600000101010101" charset="-122"/>
                <a:cs typeface="汉仪书魂体简" panose="02010600000101010101" charset="-122"/>
              </a:endParaRPr>
            </a:p>
          </p:txBody>
        </p:sp>
      </p:grpSp>
      <p:sp>
        <p:nvSpPr>
          <p:cNvPr id="56" name="矩形: 圆角 34"/>
          <p:cNvSpPr/>
          <p:nvPr/>
        </p:nvSpPr>
        <p:spPr>
          <a:xfrm>
            <a:off x="4198401" y="5662179"/>
            <a:ext cx="3727891" cy="628617"/>
          </a:xfrm>
          <a:prstGeom prst="rect">
            <a:avLst/>
          </a:prstGeom>
          <a:ln w="9525" cap="flat" cmpd="sng" algn="ctr">
            <a:solidFill>
              <a:srgbClr val="024282"/>
            </a:solidFill>
            <a:prstDash val="dash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lIns="71996" tIns="0" rIns="71996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汉仪颜楷简" panose="00020600040101010101" charset="-122"/>
                <a:ea typeface="汉仪颜楷简" panose="00020600040101010101" charset="-122"/>
                <a:cs typeface="方正FW轻吟体 简 M" panose="02010600010101010101" charset="-122"/>
              </a:rPr>
              <a:t>切片独立推理，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汉仪颜楷简" panose="00020600040101010101" charset="-122"/>
              <a:ea typeface="汉仪颜楷简" panose="00020600040101010101" charset="-122"/>
              <a:cs typeface="方正FW轻吟体 简 M" panose="02010600010101010101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汉仪颜楷简" panose="00020600040101010101" charset="-122"/>
                <a:ea typeface="汉仪颜楷简" panose="00020600040101010101" charset="-122"/>
                <a:cs typeface="方正FW轻吟体 简 M" panose="02010600010101010101" charset="-122"/>
              </a:rPr>
              <a:t>保留弱小目标候选框。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汉仪颜楷简" panose="00020600040101010101" charset="-122"/>
              <a:ea typeface="汉仪颜楷简" panose="00020600040101010101" charset="-122"/>
              <a:cs typeface="方正FW轻吟体 简 M" panose="02010600010101010101" charset="-122"/>
            </a:endParaRPr>
          </a:p>
        </p:txBody>
      </p:sp>
      <p:sp>
        <p:nvSpPr>
          <p:cNvPr id="58" name="矩形: 圆角 34"/>
          <p:cNvSpPr/>
          <p:nvPr/>
        </p:nvSpPr>
        <p:spPr>
          <a:xfrm>
            <a:off x="8380928" y="5639955"/>
            <a:ext cx="3350086" cy="628617"/>
          </a:xfrm>
          <a:prstGeom prst="rect">
            <a:avLst/>
          </a:prstGeom>
          <a:ln w="9525" cap="flat" cmpd="sng" algn="ctr">
            <a:solidFill>
              <a:srgbClr val="024282"/>
            </a:solidFill>
            <a:prstDash val="dash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lIns="71996" tIns="0" rIns="71996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汉仪颜楷简" panose="00020600040101010101" charset="-122"/>
                <a:ea typeface="汉仪颜楷简" panose="00020600040101010101" charset="-122"/>
                <a:cs typeface="方正FW轻吟体 简 M" panose="02010600010101010101" charset="-122"/>
              </a:rPr>
              <a:t>全局去重，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汉仪颜楷简" panose="00020600040101010101" charset="-122"/>
              <a:ea typeface="汉仪颜楷简" panose="00020600040101010101" charset="-122"/>
              <a:cs typeface="方正FW轻吟体 简 M" panose="02010600010101010101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汉仪颜楷简" panose="00020600040101010101" charset="-122"/>
                <a:ea typeface="汉仪颜楷简" panose="00020600040101010101" charset="-122"/>
                <a:cs typeface="方正FW轻吟体 简 M" panose="02010600010101010101" charset="-122"/>
              </a:rPr>
              <a:t>还原原图检测结果。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汉仪颜楷简" panose="00020600040101010101" charset="-122"/>
              <a:ea typeface="汉仪颜楷简" panose="00020600040101010101" charset="-122"/>
              <a:cs typeface="方正FW轻吟体 简 M" panose="0201060001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700098" y="889767"/>
            <a:ext cx="7075436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b="1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Agyeman et al., SAHI: Slicing Aided Hyper Inference, arXiv 2022</a:t>
            </a:r>
            <a:endParaRPr lang="en-US" altLang="zh-CN" b="1">
              <a:solidFill>
                <a:srgbClr val="C0000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pic>
        <p:nvPicPr>
          <p:cNvPr id="12" name="Picture 4" descr="ca_atten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945" y="3487420"/>
            <a:ext cx="3504565" cy="2021840"/>
          </a:xfrm>
          <a:prstGeom prst="rect">
            <a:avLst/>
          </a:prstGeom>
        </p:spPr>
      </p:pic>
      <p:pic>
        <p:nvPicPr>
          <p:cNvPr id="13" name="Picture 6" descr="bifp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0500" y="3439160"/>
            <a:ext cx="4114800" cy="2070100"/>
          </a:xfrm>
          <a:prstGeom prst="rect">
            <a:avLst/>
          </a:prstGeom>
        </p:spPr>
      </p:pic>
      <p:pic>
        <p:nvPicPr>
          <p:cNvPr id="16" name="Picture 8" descr="ghostnet_arc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2290" y="3459480"/>
            <a:ext cx="3936365" cy="20059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14:gallery dir="l"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44" y="116806"/>
            <a:ext cx="629839" cy="612736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21" y="809810"/>
            <a:ext cx="11488202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054680" y="193844"/>
            <a:ext cx="8098368" cy="612743"/>
          </a:xfrm>
          <a:prstGeom prst="rect">
            <a:avLst/>
          </a:prstGeom>
        </p:spPr>
        <p:txBody>
          <a:bodyPr vert="horz" lIns="91435" tIns="45717" rIns="91435" bIns="45717" rtlCol="0">
            <a:normAutofit fontScale="5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4570" noProof="0" dirty="0">
                <a:ln>
                  <a:noFill/>
                </a:ln>
                <a:effectLst/>
                <a:uLnTx/>
                <a:uFillTx/>
                <a:sym typeface="+mn-ea"/>
              </a:rPr>
              <a:t>论文二：</a:t>
            </a:r>
            <a:r>
              <a:rPr sz="4570">
                <a:sym typeface="+mn-ea"/>
              </a:rPr>
              <a:t>WTBD-YOLOv8 (2024) — 更少参数+更高精度</a:t>
            </a:r>
            <a:endParaRPr sz="4570"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813114" y="6398540"/>
            <a:ext cx="108394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JUNE 12</a:t>
            </a:r>
            <a:r>
              <a:rPr kumimoji="0" lang="en-US" altLang="zh-CN" b="1" i="0" u="none" strike="noStrike" kern="120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th</a:t>
            </a:r>
            <a:endParaRPr kumimoji="0" lang="zh-CN" altLang="en-US" b="1" i="0" u="none" strike="noStrike" kern="1200" cap="none" spc="0" normalizeH="0" baseline="3000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90815" y="3416936"/>
            <a:ext cx="11802765" cy="3001489"/>
          </a:xfrm>
          <a:prstGeom prst="rect">
            <a:avLst/>
          </a:prstGeom>
          <a:solidFill>
            <a:srgbClr val="024282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grpSp>
        <p:nvGrpSpPr>
          <p:cNvPr id="19" name="组合 18"/>
          <p:cNvGrpSpPr/>
          <p:nvPr/>
        </p:nvGrpSpPr>
        <p:grpSpPr>
          <a:xfrm rot="0">
            <a:off x="401934" y="2856895"/>
            <a:ext cx="1176594" cy="534063"/>
            <a:chOff x="10068105" y="1734537"/>
            <a:chExt cx="1690700" cy="534397"/>
          </a:xfrm>
        </p:grpSpPr>
        <p:grpSp>
          <p:nvGrpSpPr>
            <p:cNvPr id="20" name="组合 19"/>
            <p:cNvGrpSpPr/>
            <p:nvPr/>
          </p:nvGrpSpPr>
          <p:grpSpPr>
            <a:xfrm>
              <a:off x="10068105" y="1734537"/>
              <a:ext cx="1690700" cy="514645"/>
              <a:chOff x="10068105" y="1734537"/>
              <a:chExt cx="1690700" cy="514645"/>
            </a:xfrm>
          </p:grpSpPr>
          <p:sp>
            <p:nvSpPr>
              <p:cNvPr id="22" name="平行四边形 21"/>
              <p:cNvSpPr/>
              <p:nvPr/>
            </p:nvSpPr>
            <p:spPr>
              <a:xfrm>
                <a:off x="10136045" y="1734537"/>
                <a:ext cx="1622760" cy="461665"/>
              </a:xfrm>
              <a:prstGeom prst="parallelogram">
                <a:avLst>
                  <a:gd name="adj" fmla="val 0"/>
                </a:avLst>
              </a:prstGeom>
              <a:noFill/>
              <a:ln w="9525" cap="flat" cmpd="sng" algn="ctr">
                <a:solidFill>
                  <a:srgbClr val="02428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阿里巴巴普惠体 R"/>
                  <a:cs typeface="+mn-cs"/>
                </a:endParaRPr>
              </a:p>
            </p:txBody>
          </p:sp>
          <p:sp>
            <p:nvSpPr>
              <p:cNvPr id="23" name="平行四边形 22"/>
              <p:cNvSpPr/>
              <p:nvPr/>
            </p:nvSpPr>
            <p:spPr>
              <a:xfrm>
                <a:off x="10068105" y="1787517"/>
                <a:ext cx="1622760" cy="461665"/>
              </a:xfrm>
              <a:prstGeom prst="parallelogram">
                <a:avLst>
                  <a:gd name="adj" fmla="val 0"/>
                </a:avLst>
              </a:prstGeom>
              <a:solidFill>
                <a:srgbClr val="02428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阿里巴巴普惠体 R"/>
                  <a:cs typeface="+mn-cs"/>
                </a:endParaRPr>
              </a:p>
            </p:txBody>
          </p:sp>
        </p:grpSp>
        <p:sp>
          <p:nvSpPr>
            <p:cNvPr id="21" name="文本框 20"/>
            <p:cNvSpPr txBox="1"/>
            <p:nvPr/>
          </p:nvSpPr>
          <p:spPr>
            <a:xfrm>
              <a:off x="10280882" y="1734565"/>
              <a:ext cx="1138750" cy="5343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汉仪书魂体简" panose="02010600000101010101" charset="-122"/>
                  <a:ea typeface="汉仪书魂体简" panose="02010600000101010101" charset="-122"/>
                  <a:cs typeface="阿里巴巴和七个小矮人" panose="00000500000000000000" charset="-122"/>
                </a:rPr>
                <a:t>原理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书魂体简" panose="02010600000101010101" charset="-122"/>
                <a:ea typeface="汉仪书魂体简" panose="02010600000101010101" charset="-122"/>
                <a:cs typeface="阿里巴巴和七个小矮人" panose="00000500000000000000" charset="-122"/>
              </a:endParaRPr>
            </a:p>
          </p:txBody>
        </p:sp>
      </p:grpSp>
      <p:sp>
        <p:nvSpPr>
          <p:cNvPr id="41" name="圆角矩形 6"/>
          <p:cNvSpPr/>
          <p:nvPr/>
        </p:nvSpPr>
        <p:spPr>
          <a:xfrm>
            <a:off x="258290" y="1059412"/>
            <a:ext cx="3177375" cy="490194"/>
          </a:xfrm>
          <a:prstGeom prst="roundRect">
            <a:avLst>
              <a:gd name="adj" fmla="val 37046"/>
            </a:avLst>
          </a:prstGeom>
          <a:gradFill>
            <a:gsLst>
              <a:gs pos="53000">
                <a:srgbClr val="024282"/>
              </a:gs>
              <a:gs pos="95000">
                <a:srgbClr val="024282">
                  <a:alpha val="0"/>
                </a:srgbClr>
              </a:gs>
              <a:gs pos="0">
                <a:srgbClr val="024282"/>
              </a:gs>
            </a:gsLst>
            <a:lin ang="20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755686" y="1073001"/>
            <a:ext cx="31821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2400" b="1">
                <a:solidFill>
                  <a:srgbClr val="A5353A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研究动机和核心问题</a:t>
            </a:r>
            <a:endParaRPr kumimoji="0" lang="zh-CN" altLang="en-US" sz="2000" b="1" i="1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5255" y="6444148"/>
            <a:ext cx="2117156" cy="338278"/>
          </a:xfrm>
          <a:prstGeom prst="rect">
            <a:avLst/>
          </a:prstGeom>
        </p:spPr>
      </p:pic>
      <p:grpSp>
        <p:nvGrpSpPr>
          <p:cNvPr id="43" name="组合 42"/>
          <p:cNvGrpSpPr/>
          <p:nvPr/>
        </p:nvGrpSpPr>
        <p:grpSpPr>
          <a:xfrm>
            <a:off x="9153728" y="116806"/>
            <a:ext cx="2764774" cy="612744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094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>
                <a:defRPr/>
              </a:pPr>
              <a:r>
                <a:rPr lang="en-US" altLang="zh-CN" sz="800" b="1" dirty="0">
                  <a:solidFill>
                    <a:prstClr val="black"/>
                  </a:solidFill>
                </a:rPr>
                <a:t>BEIHANG UNIVERSITY</a:t>
              </a:r>
              <a:endParaRPr lang="en-US" altLang="zh-CN" sz="800" b="1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241300" y="1600289"/>
            <a:ext cx="12129863" cy="1308942"/>
            <a:chOff x="574" y="2713"/>
            <a:chExt cx="9002" cy="1694"/>
          </a:xfrm>
        </p:grpSpPr>
        <p:sp>
          <p:nvSpPr>
            <p:cNvPr id="8" name="圆角矩形 7"/>
            <p:cNvSpPr/>
            <p:nvPr/>
          </p:nvSpPr>
          <p:spPr>
            <a:xfrm>
              <a:off x="574" y="2714"/>
              <a:ext cx="8703" cy="159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/>
                <a:t>背景</a:t>
              </a:r>
              <a:endParaRPr lang="zh-CN" altLang="en-US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686" y="2713"/>
              <a:ext cx="8890" cy="169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>
                <a:spcAft>
                  <a:spcPts val="400"/>
                </a:spcAft>
                <a:defRPr sz="1300">
                  <a:solidFill>
                    <a:srgbClr val="333333"/>
                  </a:solidFill>
                </a:defRPr>
              </a:pPr>
              <a:r>
                <a:rPr sz="1600">
                  <a:sym typeface="+mn-ea"/>
                </a:rPr>
                <a:t>① GhostCBS: 替换标准卷积 → 参数-38.2%</a:t>
              </a:r>
              <a:endParaRPr sz="1600">
                <a:sym typeface="+mn-ea"/>
              </a:endParaRPr>
            </a:p>
            <a:p>
              <a:pPr>
                <a:spcAft>
                  <a:spcPts val="400"/>
                </a:spcAft>
                <a:defRPr sz="1300">
                  <a:solidFill>
                    <a:srgbClr val="333333"/>
                  </a:solidFill>
                </a:defRPr>
              </a:pPr>
              <a:r>
                <a:rPr sz="1600">
                  <a:sym typeface="+mn-ea"/>
                </a:rPr>
                <a:t>② DFSB-C3k2: 密集特征尺度平衡</a:t>
              </a:r>
              <a:endParaRPr sz="1600">
                <a:sym typeface="+mn-ea"/>
              </a:endParaRPr>
            </a:p>
            <a:p>
              <a:pPr>
                <a:spcAft>
                  <a:spcPts val="400"/>
                </a:spcAft>
                <a:defRPr sz="1300">
                  <a:solidFill>
                    <a:srgbClr val="333333"/>
                  </a:solidFill>
                </a:defRPr>
              </a:pPr>
              <a:r>
                <a:rPr sz="1600">
                  <a:sym typeface="+mn-ea"/>
                </a:rPr>
                <a:t>③ MHSA-C3k2: 多头自注意力，捕获全局上下文</a:t>
              </a:r>
              <a:endParaRPr sz="1600">
                <a:sym typeface="+mn-ea"/>
              </a:endParaRPr>
            </a:p>
            <a:p>
              <a:pPr>
                <a:spcAft>
                  <a:spcPts val="400"/>
                </a:spcAft>
                <a:defRPr sz="1300">
                  <a:solidFill>
                    <a:srgbClr val="333333"/>
                  </a:solidFill>
                </a:defRPr>
              </a:pPr>
              <a:r>
                <a:rPr sz="1600">
                  <a:sym typeface="+mn-ea"/>
                </a:rPr>
                <a:t>④ Mini-BiFPN: 2层加权融合 → 参数-50%</a:t>
              </a:r>
              <a:endParaRPr sz="1600">
                <a:sym typeface="+mn-ea"/>
              </a:endParaRPr>
            </a:p>
            <a:p>
              <a:r>
                <a:rPr lang="zh-CN" altLang="en-US" sz="1600">
                  <a:latin typeface="汉仪书魂体简" panose="02010600000101010101" charset="-122"/>
                  <a:ea typeface="汉仪书魂体简" panose="02010600000101010101" charset="-122"/>
                  <a:cs typeface="汉仪书魂体简" panose="02010600000101010101" charset="-122"/>
                </a:rPr>
                <a:t>。</a:t>
              </a:r>
              <a:endParaRPr lang="zh-CN" altLang="en-US" sz="1600">
                <a:latin typeface="汉仪书魂体简" panose="02010600000101010101" charset="-122"/>
                <a:ea typeface="汉仪书魂体简" panose="02010600000101010101" charset="-122"/>
                <a:cs typeface="汉仪书魂体简" panose="02010600000101010101" charset="-122"/>
              </a:endParaRPr>
            </a:p>
          </p:txBody>
        </p:sp>
      </p:grp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8254570" y="3488052"/>
            <a:ext cx="3757734" cy="631157"/>
            <a:chOff x="13000" y="5493"/>
            <a:chExt cx="5645" cy="994"/>
          </a:xfrm>
        </p:grpSpPr>
        <p:sp>
          <p:nvSpPr>
            <p:cNvPr id="35" name="矩形: 圆角 34"/>
            <p:cNvSpPr/>
            <p:nvPr>
              <p:custDataLst>
                <p:tags r:id="rId6"/>
              </p:custDataLst>
            </p:nvPr>
          </p:nvSpPr>
          <p:spPr>
            <a:xfrm>
              <a:off x="14981" y="5497"/>
              <a:ext cx="3664" cy="990"/>
            </a:xfrm>
            <a:prstGeom prst="rect">
              <a:avLst/>
            </a:prstGeom>
            <a:ln w="9525" cap="flat" cmpd="sng" algn="ctr">
              <a:solidFill>
                <a:schemeClr val="accent1"/>
              </a:solidFill>
              <a:prstDash val="dash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wrap="square" lIns="71996" tIns="0" rIns="71996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汉仪颜楷简" panose="00020600040101010101" charset="-122"/>
                  <a:ea typeface="汉仪颜楷简" panose="00020600040101010101" charset="-122"/>
                  <a:cs typeface="方正FW轻吟体 简 M" panose="02010600010101010101" charset="-122"/>
                </a:rPr>
                <a:t>提取纹理细节，</a:t>
              </a: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汉仪颜楷简" panose="00020600040101010101" charset="-122"/>
                <a:ea typeface="汉仪颜楷简" panose="00020600040101010101" charset="-122"/>
                <a:cs typeface="方正FW轻吟体 简 M" panose="02010600010101010101" charset="-122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汉仪颜楷简" panose="00020600040101010101" charset="-122"/>
                  <a:ea typeface="汉仪颜楷简" panose="00020600040101010101" charset="-122"/>
                  <a:cs typeface="方正FW轻吟体 简 M" panose="02010600010101010101" charset="-122"/>
                </a:rPr>
                <a:t>保留微小目标特征。</a:t>
              </a: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汉仪颜楷简" panose="00020600040101010101" charset="-122"/>
                <a:ea typeface="汉仪颜楷简" panose="00020600040101010101" charset="-122"/>
                <a:cs typeface="方正FW轻吟体 简 M" panose="02010600010101010101" charset="-122"/>
              </a:endParaRPr>
            </a:p>
          </p:txBody>
        </p:sp>
        <p:sp>
          <p:nvSpPr>
            <p:cNvPr id="3" name="矩形: 圆角 34"/>
            <p:cNvSpPr/>
            <p:nvPr>
              <p:custDataLst>
                <p:tags r:id="rId7"/>
              </p:custDataLst>
            </p:nvPr>
          </p:nvSpPr>
          <p:spPr>
            <a:xfrm>
              <a:off x="13000" y="5493"/>
              <a:ext cx="1981" cy="982"/>
            </a:xfrm>
            <a:prstGeom prst="rect">
              <a:avLst/>
            </a:prstGeom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lIns="71996" tIns="0" rIns="71996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汉仪颜楷简" panose="00020600040101010101" charset="-122"/>
                  <a:ea typeface="汉仪颜楷简" panose="00020600040101010101" charset="-122"/>
                  <a:cs typeface="方正FW轻吟体 简 M" panose="02010600010101010101" charset="-122"/>
                </a:rPr>
                <a:t>浅层分支</a:t>
              </a: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汉仪颜楷简" panose="00020600040101010101" charset="-122"/>
                <a:ea typeface="汉仪颜楷简" panose="00020600040101010101" charset="-122"/>
                <a:cs typeface="方正FW轻吟体 简 M" panose="02010600010101010101" charset="-122"/>
              </a:endParaRPr>
            </a:p>
          </p:txBody>
        </p:sp>
      </p:grpSp>
      <p:grpSp>
        <p:nvGrpSpPr>
          <p:cNvPr id="12" name="组合 11"/>
          <p:cNvGrpSpPr/>
          <p:nvPr>
            <p:custDataLst>
              <p:tags r:id="rId8"/>
            </p:custDataLst>
          </p:nvPr>
        </p:nvGrpSpPr>
        <p:grpSpPr>
          <a:xfrm>
            <a:off x="8254570" y="4507174"/>
            <a:ext cx="3757734" cy="631157"/>
            <a:chOff x="13000" y="5493"/>
            <a:chExt cx="5645" cy="994"/>
          </a:xfrm>
        </p:grpSpPr>
        <p:sp>
          <p:nvSpPr>
            <p:cNvPr id="13" name="矩形: 圆角 34"/>
            <p:cNvSpPr/>
            <p:nvPr>
              <p:custDataLst>
                <p:tags r:id="rId9"/>
              </p:custDataLst>
            </p:nvPr>
          </p:nvSpPr>
          <p:spPr>
            <a:xfrm>
              <a:off x="14981" y="5497"/>
              <a:ext cx="3664" cy="990"/>
            </a:xfrm>
            <a:prstGeom prst="rect">
              <a:avLst/>
            </a:prstGeom>
            <a:ln w="9525" cap="flat" cmpd="sng" algn="ctr">
              <a:solidFill>
                <a:schemeClr val="accent1"/>
              </a:solidFill>
              <a:prstDash val="dash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wrap="square" lIns="71996" tIns="0" rIns="71996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汉仪颜楷简" panose="00020600040101010101" charset="-122"/>
                  <a:ea typeface="汉仪颜楷简" panose="00020600040101010101" charset="-122"/>
                  <a:cs typeface="方正FW轻吟体 简 M" panose="02010600010101010101" charset="-122"/>
                </a:rPr>
                <a:t>捕获语义信息，</a:t>
              </a: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汉仪颜楷简" panose="00020600040101010101" charset="-122"/>
                <a:ea typeface="汉仪颜楷简" panose="00020600040101010101" charset="-122"/>
                <a:cs typeface="方正FW轻吟体 简 M" panose="02010600010101010101" charset="-122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汉仪颜楷简" panose="00020600040101010101" charset="-122"/>
                  <a:ea typeface="汉仪颜楷简" panose="00020600040101010101" charset="-122"/>
                  <a:cs typeface="方正FW轻吟体 简 M" panose="02010600010101010101" charset="-122"/>
                </a:rPr>
                <a:t>识别中大尺度目标。</a:t>
              </a: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汉仪颜楷简" panose="00020600040101010101" charset="-122"/>
                <a:ea typeface="汉仪颜楷简" panose="00020600040101010101" charset="-122"/>
                <a:cs typeface="方正FW轻吟体 简 M" panose="02010600010101010101" charset="-122"/>
              </a:endParaRPr>
            </a:p>
          </p:txBody>
        </p:sp>
        <p:sp>
          <p:nvSpPr>
            <p:cNvPr id="16" name="矩形: 圆角 34"/>
            <p:cNvSpPr/>
            <p:nvPr>
              <p:custDataLst>
                <p:tags r:id="rId10"/>
              </p:custDataLst>
            </p:nvPr>
          </p:nvSpPr>
          <p:spPr>
            <a:xfrm>
              <a:off x="13000" y="5493"/>
              <a:ext cx="1981" cy="982"/>
            </a:xfrm>
            <a:prstGeom prst="rect">
              <a:avLst/>
            </a:prstGeom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lIns="71996" tIns="0" rIns="71996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汉仪颜楷简" panose="00020600040101010101" charset="-122"/>
                  <a:ea typeface="汉仪颜楷简" panose="00020600040101010101" charset="-122"/>
                  <a:cs typeface="方正FW轻吟体 简 M" panose="02010600010101010101" charset="-122"/>
                </a:rPr>
                <a:t>深层分支</a:t>
              </a: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汉仪颜楷简" panose="00020600040101010101" charset="-122"/>
                <a:ea typeface="汉仪颜楷简" panose="00020600040101010101" charset="-122"/>
                <a:cs typeface="方正FW轻吟体 简 M" panose="02010600010101010101" charset="-122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1"/>
            </p:custDataLst>
          </p:nvPr>
        </p:nvGrpSpPr>
        <p:grpSpPr>
          <a:xfrm>
            <a:off x="8254570" y="5526296"/>
            <a:ext cx="3757460" cy="631157"/>
            <a:chOff x="13000" y="5493"/>
            <a:chExt cx="5526" cy="994"/>
          </a:xfrm>
        </p:grpSpPr>
        <p:sp>
          <p:nvSpPr>
            <p:cNvPr id="24" name="矩形: 圆角 34"/>
            <p:cNvSpPr/>
            <p:nvPr>
              <p:custDataLst>
                <p:tags r:id="rId12"/>
              </p:custDataLst>
            </p:nvPr>
          </p:nvSpPr>
          <p:spPr>
            <a:xfrm>
              <a:off x="14849" y="5497"/>
              <a:ext cx="3677" cy="990"/>
            </a:xfrm>
            <a:prstGeom prst="rect">
              <a:avLst/>
            </a:prstGeom>
            <a:ln w="9525" cap="flat" cmpd="sng" algn="ctr">
              <a:solidFill>
                <a:schemeClr val="accent1"/>
              </a:solidFill>
              <a:prstDash val="dash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wrap="square" lIns="71996" tIns="0" rIns="71996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汉仪颜楷简" panose="00020600040101010101" charset="-122"/>
                  <a:ea typeface="汉仪颜楷简" panose="00020600040101010101" charset="-122"/>
                  <a:cs typeface="方正FW轻吟体 简 M" panose="02010600010101010101" charset="-122"/>
                </a:rPr>
                <a:t>加权融合多尺度特征，</a:t>
              </a: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汉仪颜楷简" panose="00020600040101010101" charset="-122"/>
                <a:ea typeface="汉仪颜楷简" panose="00020600040101010101" charset="-122"/>
                <a:cs typeface="方正FW轻吟体 简 M" panose="02010600010101010101" charset="-122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汉仪颜楷简" panose="00020600040101010101" charset="-122"/>
                  <a:ea typeface="汉仪颜楷简" panose="00020600040101010101" charset="-122"/>
                  <a:cs typeface="方正FW轻吟体 简 M" panose="02010600010101010101" charset="-122"/>
                </a:rPr>
                <a:t>强化特征表征能力。</a:t>
              </a: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汉仪颜楷简" panose="00020600040101010101" charset="-122"/>
                <a:ea typeface="汉仪颜楷简" panose="00020600040101010101" charset="-122"/>
                <a:cs typeface="方正FW轻吟体 简 M" panose="02010600010101010101" charset="-122"/>
              </a:endParaRPr>
            </a:p>
          </p:txBody>
        </p:sp>
        <p:sp>
          <p:nvSpPr>
            <p:cNvPr id="25" name="矩形: 圆角 34"/>
            <p:cNvSpPr/>
            <p:nvPr>
              <p:custDataLst>
                <p:tags r:id="rId13"/>
              </p:custDataLst>
            </p:nvPr>
          </p:nvSpPr>
          <p:spPr>
            <a:xfrm>
              <a:off x="13000" y="5493"/>
              <a:ext cx="1850" cy="982"/>
            </a:xfrm>
            <a:prstGeom prst="rect">
              <a:avLst/>
            </a:prstGeom>
          </p:spPr>
          <p:style>
            <a:lnRef idx="0">
              <a:srgbClr val="FFFFFF"/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lIns="71996" tIns="0" rIns="71996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汉仪颜楷简" panose="00020600040101010101" charset="-122"/>
                  <a:ea typeface="汉仪颜楷简" panose="00020600040101010101" charset="-122"/>
                  <a:cs typeface="方正FW轻吟体 简 M" panose="02010600010101010101" charset="-122"/>
                </a:rPr>
                <a:t>聚合分支</a:t>
              </a: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汉仪颜楷简" panose="00020600040101010101" charset="-122"/>
                <a:ea typeface="汉仪颜楷简" panose="00020600040101010101" charset="-122"/>
                <a:cs typeface="方正FW轻吟体 简 M" panose="02010600010101010101" charset="-122"/>
              </a:endParaRPr>
            </a:p>
          </p:txBody>
        </p:sp>
      </p:grpSp>
      <p:sp>
        <p:nvSpPr>
          <p:cNvPr id="28" name="文本框 27"/>
          <p:cNvSpPr txBox="1"/>
          <p:nvPr/>
        </p:nvSpPr>
        <p:spPr>
          <a:xfrm>
            <a:off x="3435806" y="873893"/>
            <a:ext cx="9464182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00000"/>
              </a:lnSpc>
            </a:pPr>
            <a:r>
              <a:rPr lang="en-US" altLang="zh-CN" sz="1600" b="1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Lu et al., MASF-YOLO: Multi-scale Feature Aggregation for UAV Small Object Detection, 2025</a:t>
            </a:r>
            <a:endParaRPr lang="en-US" altLang="zh-CN" sz="1600" b="1">
              <a:solidFill>
                <a:srgbClr val="C0000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pic>
        <p:nvPicPr>
          <p:cNvPr id="30" name="Picture 2" descr="fig05_wtbd_yolov8.png"/>
          <p:cNvPicPr>
            <a:picLocks noChangeAspect="1"/>
          </p:cNvPicPr>
          <p:nvPr/>
        </p:nvPicPr>
        <p:blipFill>
          <a:blip r:embed="rId14"/>
          <a:srcRect t="15430"/>
          <a:stretch>
            <a:fillRect/>
          </a:stretch>
        </p:blipFill>
        <p:spPr>
          <a:xfrm>
            <a:off x="285115" y="3535680"/>
            <a:ext cx="7918450" cy="26911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14:gallery dir="l"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44" y="116806"/>
            <a:ext cx="629839" cy="612736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21" y="809810"/>
            <a:ext cx="11488202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908685" y="193675"/>
            <a:ext cx="8427720" cy="695960"/>
          </a:xfrm>
          <a:prstGeom prst="rect">
            <a:avLst/>
          </a:prstGeom>
        </p:spPr>
        <p:txBody>
          <a:bodyPr vert="horz" lIns="91435" tIns="45717" rIns="91435" bIns="45717" rtlCol="0">
            <a:normAutofit fontScale="5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4570" noProof="0" dirty="0">
                <a:ln>
                  <a:noFill/>
                </a:ln>
                <a:effectLst/>
                <a:uLnTx/>
                <a:uFillTx/>
                <a:sym typeface="+mn-ea"/>
              </a:rPr>
              <a:t>论文三：</a:t>
            </a:r>
            <a:r>
              <a:rPr sz="4570">
                <a:sym typeface="+mn-ea"/>
              </a:rPr>
              <a:t>LE-YOLO (2024) — 零参数注意力+高效损失</a:t>
            </a:r>
            <a:endParaRPr sz="4570"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90815" y="3416936"/>
            <a:ext cx="11803400" cy="3028157"/>
          </a:xfrm>
          <a:prstGeom prst="rect">
            <a:avLst/>
          </a:prstGeom>
          <a:solidFill>
            <a:srgbClr val="024282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grpSp>
        <p:nvGrpSpPr>
          <p:cNvPr id="19" name="组合 18"/>
          <p:cNvGrpSpPr/>
          <p:nvPr/>
        </p:nvGrpSpPr>
        <p:grpSpPr>
          <a:xfrm rot="0">
            <a:off x="401934" y="2856895"/>
            <a:ext cx="1176594" cy="534063"/>
            <a:chOff x="10068105" y="1734537"/>
            <a:chExt cx="1690700" cy="534397"/>
          </a:xfrm>
        </p:grpSpPr>
        <p:grpSp>
          <p:nvGrpSpPr>
            <p:cNvPr id="20" name="组合 19"/>
            <p:cNvGrpSpPr/>
            <p:nvPr/>
          </p:nvGrpSpPr>
          <p:grpSpPr>
            <a:xfrm>
              <a:off x="10068105" y="1734537"/>
              <a:ext cx="1690700" cy="514645"/>
              <a:chOff x="10068105" y="1734537"/>
              <a:chExt cx="1690700" cy="514645"/>
            </a:xfrm>
          </p:grpSpPr>
          <p:sp>
            <p:nvSpPr>
              <p:cNvPr id="22" name="平行四边形 21"/>
              <p:cNvSpPr/>
              <p:nvPr/>
            </p:nvSpPr>
            <p:spPr>
              <a:xfrm>
                <a:off x="10136045" y="1734537"/>
                <a:ext cx="1622760" cy="461665"/>
              </a:xfrm>
              <a:prstGeom prst="parallelogram">
                <a:avLst>
                  <a:gd name="adj" fmla="val 0"/>
                </a:avLst>
              </a:prstGeom>
              <a:noFill/>
              <a:ln w="9525" cap="flat" cmpd="sng" algn="ctr">
                <a:solidFill>
                  <a:srgbClr val="024282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阿里巴巴普惠体 R"/>
                  <a:cs typeface="+mn-cs"/>
                </a:endParaRPr>
              </a:p>
            </p:txBody>
          </p:sp>
          <p:sp>
            <p:nvSpPr>
              <p:cNvPr id="23" name="平行四边形 22"/>
              <p:cNvSpPr/>
              <p:nvPr/>
            </p:nvSpPr>
            <p:spPr>
              <a:xfrm>
                <a:off x="10068105" y="1787517"/>
                <a:ext cx="1622760" cy="461665"/>
              </a:xfrm>
              <a:prstGeom prst="parallelogram">
                <a:avLst>
                  <a:gd name="adj" fmla="val 0"/>
                </a:avLst>
              </a:prstGeom>
              <a:solidFill>
                <a:srgbClr val="02428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阿里巴巴普惠体 R"/>
                  <a:cs typeface="+mn-cs"/>
                </a:endParaRPr>
              </a:p>
            </p:txBody>
          </p:sp>
        </p:grpSp>
        <p:sp>
          <p:nvSpPr>
            <p:cNvPr id="21" name="文本框 20"/>
            <p:cNvSpPr txBox="1"/>
            <p:nvPr/>
          </p:nvSpPr>
          <p:spPr>
            <a:xfrm>
              <a:off x="10280882" y="1734565"/>
              <a:ext cx="1138750" cy="5343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汉仪书魂体简" panose="02010600000101010101" charset="-122"/>
                  <a:ea typeface="汉仪书魂体简" panose="02010600000101010101" charset="-122"/>
                  <a:cs typeface="阿里巴巴和七个小矮人" panose="00000500000000000000" charset="-122"/>
                </a:rPr>
                <a:t>原理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书魂体简" panose="02010600000101010101" charset="-122"/>
                <a:ea typeface="汉仪书魂体简" panose="02010600000101010101" charset="-122"/>
                <a:cs typeface="阿里巴巴和七个小矮人" panose="00000500000000000000" charset="-122"/>
              </a:endParaRPr>
            </a:p>
          </p:txBody>
        </p:sp>
      </p:grpSp>
      <p:sp>
        <p:nvSpPr>
          <p:cNvPr id="41" name="圆角矩形 6"/>
          <p:cNvSpPr/>
          <p:nvPr/>
        </p:nvSpPr>
        <p:spPr>
          <a:xfrm>
            <a:off x="232256" y="1053698"/>
            <a:ext cx="3177375" cy="490194"/>
          </a:xfrm>
          <a:prstGeom prst="roundRect">
            <a:avLst>
              <a:gd name="adj" fmla="val 37046"/>
            </a:avLst>
          </a:prstGeom>
          <a:gradFill>
            <a:gsLst>
              <a:gs pos="53000">
                <a:srgbClr val="024282"/>
              </a:gs>
              <a:gs pos="95000">
                <a:srgbClr val="024282">
                  <a:alpha val="0"/>
                </a:srgbClr>
              </a:gs>
              <a:gs pos="0">
                <a:srgbClr val="024282"/>
              </a:gs>
            </a:gsLst>
            <a:lin ang="2070000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755686" y="1073001"/>
            <a:ext cx="31821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dist">
              <a:defRPr sz="2400" b="1">
                <a:solidFill>
                  <a:srgbClr val="A5353A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研究动机和核心问题</a:t>
            </a:r>
            <a:endParaRPr kumimoji="0" lang="zh-CN" altLang="en-US" sz="2000" b="1" i="1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5255" y="6444148"/>
            <a:ext cx="2117156" cy="338278"/>
          </a:xfrm>
          <a:prstGeom prst="rect">
            <a:avLst/>
          </a:prstGeom>
        </p:spPr>
      </p:pic>
      <p:grpSp>
        <p:nvGrpSpPr>
          <p:cNvPr id="43" name="组合 42"/>
          <p:cNvGrpSpPr/>
          <p:nvPr/>
        </p:nvGrpSpPr>
        <p:grpSpPr>
          <a:xfrm>
            <a:off x="9153728" y="116806"/>
            <a:ext cx="2764774" cy="612744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094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>
                <a:defRPr/>
              </a:pPr>
              <a:r>
                <a:rPr lang="en-US" altLang="zh-CN" sz="800" b="1" dirty="0">
                  <a:solidFill>
                    <a:prstClr val="black"/>
                  </a:solidFill>
                </a:rPr>
                <a:t>BEIHANG UNIVERSITY</a:t>
              </a:r>
              <a:endParaRPr lang="en-US" altLang="zh-CN" sz="800" b="1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26" name="组合 25"/>
          <p:cNvGrpSpPr/>
          <p:nvPr>
            <p:custDataLst>
              <p:tags r:id="rId5"/>
            </p:custDataLst>
          </p:nvPr>
        </p:nvGrpSpPr>
        <p:grpSpPr>
          <a:xfrm>
            <a:off x="232410" y="1694180"/>
            <a:ext cx="11726545" cy="1087755"/>
            <a:chOff x="360" y="2668"/>
            <a:chExt cx="9144" cy="1594"/>
          </a:xfrm>
        </p:grpSpPr>
        <p:sp>
          <p:nvSpPr>
            <p:cNvPr id="8" name="圆角矩形 7"/>
            <p:cNvSpPr/>
            <p:nvPr>
              <p:custDataLst>
                <p:tags r:id="rId6"/>
              </p:custDataLst>
            </p:nvPr>
          </p:nvSpPr>
          <p:spPr>
            <a:xfrm>
              <a:off x="408" y="2668"/>
              <a:ext cx="9096" cy="159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/>
                <a:t>背景</a:t>
              </a:r>
              <a:endParaRPr lang="zh-CN" altLang="en-US"/>
            </a:p>
          </p:txBody>
        </p:sp>
        <p:sp>
          <p:nvSpPr>
            <p:cNvPr id="9" name="文本框 8"/>
            <p:cNvSpPr txBox="1"/>
            <p:nvPr>
              <p:custDataLst>
                <p:tags r:id="rId7"/>
              </p:custDataLst>
            </p:nvPr>
          </p:nvSpPr>
          <p:spPr>
            <a:xfrm>
              <a:off x="360" y="2796"/>
              <a:ext cx="9144" cy="142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>
                <a:spcAft>
                  <a:spcPts val="400"/>
                </a:spcAft>
                <a:defRPr sz="1300">
                  <a:solidFill>
                    <a:srgbClr val="333333"/>
                  </a:solidFill>
                </a:defRPr>
              </a:pPr>
              <a:r>
                <a:rPr sz="1800">
                  <a:sym typeface="+mn-ea"/>
                </a:rPr>
                <a:t>① GSConv: Ghost+Shuffle → 参数-44%，计算-42%</a:t>
              </a:r>
              <a:endParaRPr sz="1800">
                <a:sym typeface="+mn-ea"/>
              </a:endParaRPr>
            </a:p>
            <a:p>
              <a:pPr>
                <a:spcAft>
                  <a:spcPts val="400"/>
                </a:spcAft>
                <a:defRPr sz="1300">
                  <a:solidFill>
                    <a:srgbClr val="333333"/>
                  </a:solidFill>
                </a:defRPr>
              </a:pPr>
              <a:r>
                <a:rPr sz="1800">
                  <a:sym typeface="+mn-ea"/>
                </a:rPr>
                <a:t>② SimAM 零参数注意力: e_t = (2t-μ)²/(2σ²+ε) → 零参数! 零开销! +2.8% mAP</a:t>
              </a:r>
              <a:endParaRPr sz="1800">
                <a:sym typeface="+mn-ea"/>
              </a:endParaRPr>
            </a:p>
            <a:p>
              <a:pPr>
                <a:spcAft>
                  <a:spcPts val="400"/>
                </a:spcAft>
                <a:defRPr sz="1300">
                  <a:solidFill>
                    <a:srgbClr val="333333"/>
                  </a:solidFill>
                </a:defRPr>
              </a:pPr>
              <a:r>
                <a:rPr sz="1800">
                  <a:sym typeface="+mn-ea"/>
                </a:rPr>
                <a:t>③ EIoU 损失函数: 分解重叠面积+中心距离+宽高差异 → 比CIoU梯度更精确</a:t>
              </a:r>
              <a:endParaRPr lang="zh-CN" altLang="en-US" sz="1800">
                <a:latin typeface="汉仪书魂体简" panose="02010600000101010101" charset="-122"/>
                <a:ea typeface="汉仪书魂体简" panose="02010600000101010101" charset="-122"/>
                <a:cs typeface="汉仪书魂体简" panose="02010600000101010101" charset="-122"/>
              </a:endParaRPr>
            </a:p>
          </p:txBody>
        </p:sp>
      </p:grpSp>
      <p:grpSp>
        <p:nvGrpSpPr>
          <p:cNvPr id="39" name="组合 38"/>
          <p:cNvGrpSpPr/>
          <p:nvPr>
            <p:custDataLst>
              <p:tags r:id="rId8"/>
            </p:custDataLst>
          </p:nvPr>
        </p:nvGrpSpPr>
        <p:grpSpPr>
          <a:xfrm>
            <a:off x="6739071" y="3475984"/>
            <a:ext cx="2572251" cy="2901164"/>
            <a:chOff x="5549" y="5582"/>
            <a:chExt cx="4051" cy="4569"/>
          </a:xfrm>
        </p:grpSpPr>
        <p:sp>
          <p:nvSpPr>
            <p:cNvPr id="35" name="矩形: 圆角 34"/>
            <p:cNvSpPr/>
            <p:nvPr>
              <p:custDataLst>
                <p:tags r:id="rId9"/>
              </p:custDataLst>
            </p:nvPr>
          </p:nvSpPr>
          <p:spPr>
            <a:xfrm>
              <a:off x="5549" y="5582"/>
              <a:ext cx="4051" cy="449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 cap="flat" cmpd="sng" algn="ctr">
              <a:noFill/>
              <a:prstDash val="dash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wrap="square" lIns="71996" tIns="0" rIns="71996" bIns="0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汉仪颜楷简" panose="00020600040101010101" charset="-122"/>
                <a:ea typeface="汉仪颜楷简" panose="00020600040101010101" charset="-122"/>
                <a:cs typeface="方正FW轻吟体 简 M" panose="02010600010101010101" charset="-122"/>
              </a:endParaRPr>
            </a:p>
          </p:txBody>
        </p:sp>
        <p:sp>
          <p:nvSpPr>
            <p:cNvPr id="33" name="矩形: 圆角 34"/>
            <p:cNvSpPr/>
            <p:nvPr>
              <p:custDataLst>
                <p:tags r:id="rId10"/>
              </p:custDataLst>
            </p:nvPr>
          </p:nvSpPr>
          <p:spPr>
            <a:xfrm>
              <a:off x="5549" y="5677"/>
              <a:ext cx="4051" cy="908"/>
            </a:xfrm>
            <a:prstGeom prst="roundRect">
              <a:avLst>
                <a:gd name="adj" fmla="val 50000"/>
              </a:avLst>
            </a:prstGeom>
            <a:noFill/>
            <a:ln w="19050" cap="flat" cmpd="sng" algn="ctr">
              <a:solidFill>
                <a:srgbClr val="024282"/>
              </a:solidFill>
              <a:prstDash val="solid"/>
              <a:miter lim="800000"/>
            </a:ln>
            <a:effectLst/>
          </p:spPr>
          <p:txBody>
            <a:bodyPr wrap="square" lIns="71996" tIns="0" rIns="71996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汉仪颜楷简" panose="00020600040101010101" charset="-122"/>
                  <a:ea typeface="汉仪颜楷简" panose="00020600040101010101" charset="-122"/>
                  <a:cs typeface="方正FW轻吟体 简 M" panose="02010600010101010101" charset="-122"/>
                </a:rPr>
                <a:t>坐标编码</a:t>
              </a:r>
              <a:endPara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汉仪颜楷简" panose="00020600040101010101" charset="-122"/>
                <a:ea typeface="汉仪颜楷简" panose="00020600040101010101" charset="-122"/>
                <a:cs typeface="方正FW轻吟体 简 M" panose="02010600010101010101" charset="-122"/>
              </a:endParaRPr>
            </a:p>
          </p:txBody>
        </p:sp>
        <p:sp>
          <p:nvSpPr>
            <p:cNvPr id="36" name="文本框 35"/>
            <p:cNvSpPr txBox="1"/>
            <p:nvPr/>
          </p:nvSpPr>
          <p:spPr>
            <a:xfrm>
              <a:off x="5661" y="6756"/>
              <a:ext cx="3726" cy="339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2400" kern="0" noProof="0" dirty="0">
                  <a:ln>
                    <a:noFill/>
                  </a:ln>
                  <a:effectLst/>
                  <a:uLnTx/>
                  <a:uFillTx/>
                  <a:latin typeface="汉仪颜楷简" panose="00020600040101010101" charset="-122"/>
                  <a:ea typeface="汉仪颜楷简" panose="00020600040101010101" charset="-122"/>
                  <a:cs typeface="方正FW轻吟体 简 M" panose="02010600010101010101" charset="-122"/>
                  <a:sym typeface="+mn-ea"/>
                </a:rPr>
                <a:t>  </a:t>
              </a:r>
              <a:r>
                <a:rPr lang="zh-CN" altLang="en-US" sz="2800" kern="0" noProof="0" dirty="0">
                  <a:ln>
                    <a:noFill/>
                  </a:ln>
                  <a:effectLst/>
                  <a:uLnTx/>
                  <a:uFillTx/>
                  <a:latin typeface="汉仪颜楷简" panose="00020600040101010101" charset="-122"/>
                  <a:ea typeface="汉仪颜楷简" panose="00020600040101010101" charset="-122"/>
                  <a:cs typeface="方正FW轻吟体 简 M" panose="02010600010101010101" charset="-122"/>
                  <a:sym typeface="+mn-ea"/>
                </a:rPr>
                <a:t>提取横向、纵向编码信息</a:t>
              </a:r>
              <a:endParaRPr lang="zh-CN" altLang="en-US" sz="2800" kern="0" noProof="0" dirty="0">
                <a:ln>
                  <a:noFill/>
                </a:ln>
                <a:effectLst/>
                <a:uLnTx/>
                <a:uFillTx/>
                <a:latin typeface="汉仪颜楷简" panose="00020600040101010101" charset="-122"/>
                <a:ea typeface="汉仪颜楷简" panose="00020600040101010101" charset="-122"/>
                <a:cs typeface="方正FW轻吟体 简 M" panose="02010600010101010101" charset="-122"/>
                <a:sym typeface="+mn-ea"/>
              </a:endParaRPr>
            </a:p>
            <a:p>
              <a:endParaRPr lang="zh-CN" altLang="en-US" sz="2400" kern="0" noProof="0" dirty="0">
                <a:ln>
                  <a:noFill/>
                </a:ln>
                <a:effectLst/>
                <a:uLnTx/>
                <a:uFillTx/>
                <a:latin typeface="汉仪颜楷简" panose="00020600040101010101" charset="-122"/>
                <a:ea typeface="汉仪颜楷简" panose="00020600040101010101" charset="-122"/>
                <a:cs typeface="方正FW轻吟体 简 M" panose="02010600010101010101" charset="-122"/>
                <a:sym typeface="+mn-ea"/>
              </a:endParaRPr>
            </a:p>
            <a:p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汉仪颜楷简" panose="00020600040101010101" charset="-122"/>
                  <a:ea typeface="汉仪颜楷简" panose="00020600040101010101" charset="-122"/>
                  <a:cs typeface="方正FW轻吟体 简 M" panose="02010600010101010101" charset="-122"/>
                </a:rPr>
                <a:t>  </a:t>
              </a:r>
              <a:r>
                <a:rPr kumimoji="0" lang="zh-CN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汉仪颜楷简" panose="00020600040101010101" charset="-122"/>
                  <a:ea typeface="汉仪颜楷简" panose="00020600040101010101" charset="-122"/>
                  <a:cs typeface="方正FW轻吟体 简 M" panose="02010600010101010101" charset="-122"/>
                </a:rPr>
                <a:t>捕捉目标空间位置关系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汉仪颜楷简" panose="00020600040101010101" charset="-122"/>
                <a:ea typeface="汉仪颜楷简" panose="00020600040101010101" charset="-122"/>
                <a:cs typeface="方正FW轻吟体 简 M" panose="02010600010101010101" charset="-122"/>
              </a:endParaRPr>
            </a:p>
            <a:p>
              <a:endParaRPr lang="zh-CN" altLang="en-US" sz="2400"/>
            </a:p>
          </p:txBody>
        </p:sp>
      </p:grpSp>
      <p:pic>
        <p:nvPicPr>
          <p:cNvPr id="37" name="图片 36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3695508" y="4412564"/>
            <a:ext cx="242557" cy="242557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3695508" y="5635510"/>
            <a:ext cx="242557" cy="242557"/>
          </a:xfrm>
          <a:prstGeom prst="rect">
            <a:avLst/>
          </a:prstGeom>
        </p:spPr>
      </p:pic>
      <p:grpSp>
        <p:nvGrpSpPr>
          <p:cNvPr id="50" name="组合 49"/>
          <p:cNvGrpSpPr/>
          <p:nvPr>
            <p:custDataLst>
              <p:tags r:id="rId14"/>
            </p:custDataLst>
          </p:nvPr>
        </p:nvGrpSpPr>
        <p:grpSpPr>
          <a:xfrm>
            <a:off x="9521964" y="3557263"/>
            <a:ext cx="2572251" cy="2887195"/>
            <a:chOff x="5549" y="5582"/>
            <a:chExt cx="4051" cy="4547"/>
          </a:xfrm>
        </p:grpSpPr>
        <p:sp>
          <p:nvSpPr>
            <p:cNvPr id="51" name="矩形: 圆角 34"/>
            <p:cNvSpPr/>
            <p:nvPr>
              <p:custDataLst>
                <p:tags r:id="rId15"/>
              </p:custDataLst>
            </p:nvPr>
          </p:nvSpPr>
          <p:spPr>
            <a:xfrm>
              <a:off x="5549" y="5582"/>
              <a:ext cx="4051" cy="4547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9525" cap="flat" cmpd="sng" algn="ctr">
              <a:noFill/>
              <a:prstDash val="dash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wrap="square" lIns="71996" tIns="0" rIns="71996" bIns="0" rtlCol="0" anchor="ctr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汉仪颜楷简" panose="00020600040101010101" charset="-122"/>
                <a:ea typeface="汉仪颜楷简" panose="00020600040101010101" charset="-122"/>
                <a:cs typeface="方正FW轻吟体 简 M" panose="02010600010101010101" charset="-122"/>
              </a:endParaRPr>
            </a:p>
          </p:txBody>
        </p:sp>
        <p:sp>
          <p:nvSpPr>
            <p:cNvPr id="53" name="矩形: 圆角 34"/>
            <p:cNvSpPr/>
            <p:nvPr>
              <p:custDataLst>
                <p:tags r:id="rId16"/>
              </p:custDataLst>
            </p:nvPr>
          </p:nvSpPr>
          <p:spPr>
            <a:xfrm>
              <a:off x="5549" y="5677"/>
              <a:ext cx="4051" cy="908"/>
            </a:xfrm>
            <a:prstGeom prst="roundRect">
              <a:avLst>
                <a:gd name="adj" fmla="val 50000"/>
              </a:avLst>
            </a:prstGeom>
            <a:noFill/>
            <a:ln w="19050" cap="flat" cmpd="sng" algn="ctr">
              <a:solidFill>
                <a:srgbClr val="024282"/>
              </a:solidFill>
              <a:prstDash val="solid"/>
              <a:miter lim="800000"/>
            </a:ln>
            <a:effectLst/>
          </p:spPr>
          <p:txBody>
            <a:bodyPr wrap="square" lIns="71996" tIns="0" rIns="71996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汉仪颜楷简" panose="00020600040101010101" charset="-122"/>
                  <a:ea typeface="汉仪颜楷简" panose="00020600040101010101" charset="-122"/>
                  <a:cs typeface="方正FW轻吟体 简 M" panose="02010600010101010101" charset="-122"/>
                </a:rPr>
                <a:t>注意力加权</a:t>
              </a:r>
              <a:endPara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汉仪颜楷简" panose="00020600040101010101" charset="-122"/>
                <a:ea typeface="汉仪颜楷简" panose="00020600040101010101" charset="-122"/>
                <a:cs typeface="方正FW轻吟体 简 M" panose="02010600010101010101" charset="-122"/>
              </a:endParaRPr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5661" y="6756"/>
              <a:ext cx="3726" cy="319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2400" kern="0" noProof="0" dirty="0">
                  <a:ln>
                    <a:noFill/>
                  </a:ln>
                  <a:effectLst/>
                  <a:uLnTx/>
                  <a:uFillTx/>
                  <a:latin typeface="汉仪颜楷简" panose="00020600040101010101" charset="-122"/>
                  <a:ea typeface="汉仪颜楷简" panose="00020600040101010101" charset="-122"/>
                  <a:cs typeface="方正FW轻吟体 简 M" panose="02010600010101010101" charset="-122"/>
                  <a:sym typeface="+mn-ea"/>
                </a:rPr>
                <a:t>  </a:t>
              </a:r>
              <a:r>
                <a:rPr lang="zh-CN" altLang="en-US" sz="2800" kern="0" noProof="0" dirty="0">
                  <a:ln>
                    <a:noFill/>
                  </a:ln>
                  <a:effectLst/>
                  <a:uLnTx/>
                  <a:uFillTx/>
                  <a:latin typeface="汉仪颜楷简" panose="00020600040101010101" charset="-122"/>
                  <a:ea typeface="汉仪颜楷简" panose="00020600040101010101" charset="-122"/>
                  <a:cs typeface="方正FW轻吟体 简 M" panose="02010600010101010101" charset="-122"/>
                  <a:sym typeface="+mn-ea"/>
                </a:rPr>
                <a:t>特征权重自适应分配</a:t>
              </a:r>
              <a:endParaRPr lang="zh-CN" altLang="en-US" sz="2800" kern="0" noProof="0" dirty="0">
                <a:ln>
                  <a:noFill/>
                </a:ln>
                <a:effectLst/>
                <a:uLnTx/>
                <a:uFillTx/>
                <a:latin typeface="汉仪颜楷简" panose="00020600040101010101" charset="-122"/>
                <a:ea typeface="汉仪颜楷简" panose="00020600040101010101" charset="-122"/>
                <a:cs typeface="方正FW轻吟体 简 M" panose="02010600010101010101" charset="-122"/>
                <a:sym typeface="+mn-ea"/>
              </a:endParaRPr>
            </a:p>
            <a:p>
              <a:endParaRPr lang="zh-CN" altLang="en-US" sz="2400" kern="0" noProof="0" dirty="0">
                <a:ln>
                  <a:noFill/>
                </a:ln>
                <a:effectLst/>
                <a:uLnTx/>
                <a:uFillTx/>
                <a:latin typeface="汉仪颜楷简" panose="00020600040101010101" charset="-122"/>
                <a:ea typeface="汉仪颜楷简" panose="00020600040101010101" charset="-122"/>
                <a:cs typeface="方正FW轻吟体 简 M" panose="02010600010101010101" charset="-122"/>
                <a:sym typeface="+mn-ea"/>
              </a:endParaRPr>
            </a:p>
            <a:p>
              <a:r>
                <a:rPr kumimoji="0" lang="en-US" altLang="zh-CN" sz="24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汉仪颜楷简" panose="00020600040101010101" charset="-122"/>
                  <a:ea typeface="汉仪颜楷简" panose="00020600040101010101" charset="-122"/>
                  <a:cs typeface="方正FW轻吟体 简 M" panose="02010600010101010101" charset="-122"/>
                </a:rPr>
                <a:t>  </a:t>
              </a:r>
              <a:r>
                <a:rPr kumimoji="0" lang="zh-CN" alt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汉仪颜楷简" panose="00020600040101010101" charset="-122"/>
                  <a:ea typeface="汉仪颜楷简" panose="00020600040101010101" charset="-122"/>
                  <a:cs typeface="方正FW轻吟体 简 M" panose="02010600010101010101" charset="-122"/>
                </a:rPr>
                <a:t>突出目标、抑制背景噪声</a:t>
              </a:r>
              <a:endPara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汉仪颜楷简" panose="00020600040101010101" charset="-122"/>
                <a:ea typeface="汉仪颜楷简" panose="00020600040101010101" charset="-122"/>
                <a:cs typeface="方正FW轻吟体 简 M" panose="02010600010101010101" charset="-122"/>
              </a:endParaRPr>
            </a:p>
            <a:p>
              <a:endParaRPr lang="zh-CN" altLang="en-US" sz="2400"/>
            </a:p>
          </p:txBody>
        </p:sp>
      </p:grpSp>
      <p:pic>
        <p:nvPicPr>
          <p:cNvPr id="55" name="图片 54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9740393" y="4412564"/>
            <a:ext cx="242557" cy="242557"/>
          </a:xfrm>
          <a:prstGeom prst="rect">
            <a:avLst/>
          </a:prstGeom>
        </p:spPr>
      </p:pic>
      <p:pic>
        <p:nvPicPr>
          <p:cNvPr id="56" name="图片 55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9772141" y="5635510"/>
            <a:ext cx="242557" cy="242557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938065" y="889767"/>
            <a:ext cx="12360901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olidFill>
                  <a:srgbClr val="3B3B3B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en-US" altLang="zh-CN" b="1">
                <a:solidFill>
                  <a:srgbClr val="C0000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Hou et al., Coordinate Attention for Efficient Mobile Network Design, ICCV 2021</a:t>
            </a:r>
            <a:endParaRPr lang="en-US" altLang="zh-CN" b="1">
              <a:solidFill>
                <a:srgbClr val="C00000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pic>
        <p:nvPicPr>
          <p:cNvPr id="3" name="Picture 2" descr="fig06_le_yolo.png"/>
          <p:cNvPicPr>
            <a:picLocks noChangeAspect="1"/>
          </p:cNvPicPr>
          <p:nvPr/>
        </p:nvPicPr>
        <p:blipFill>
          <a:blip r:embed="rId19"/>
          <a:srcRect r="639"/>
          <a:stretch>
            <a:fillRect/>
          </a:stretch>
        </p:blipFill>
        <p:spPr>
          <a:xfrm>
            <a:off x="309880" y="3477895"/>
            <a:ext cx="6083935" cy="29000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14:gallery dir="l"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A5676"/>
                </a:solidFill>
              </a:defRPr>
            </a:pPr>
            <a:r>
              <a:t>三条技术路线 + 跨论文共同配方</a:t>
            </a:r>
          </a:p>
        </p:txBody>
      </p:sp>
      <p:pic>
        <p:nvPicPr>
          <p:cNvPr id="3" name="Picture 2" descr="fig07_three_rout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11430000" cy="543054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路线一: 轻量化卷积 (GhostNet/GSConv/GhostCBS) → 参数-38~44%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路线二: 注意力机制 (CA/SimAM/MHSA) → +2~3% mAP，避免CBAM!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路线三: 特征融合 (BiFPN) → +4.6% mAP，小目标AP+4.8%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D7E14"/>
                </a:solidFill>
              </a:defRPr>
            </a:pPr>
            <a:r>
              <a:t>共同配方: YOLO + 轻量化 + 注意力 + BiFPN + EIoU/DFL = 更小、更快、更准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426174" y="1191154"/>
            <a:ext cx="11472360" cy="4701577"/>
          </a:xfrm>
          <a:prstGeom prst="rect">
            <a:avLst/>
          </a:prstGeom>
          <a:solidFill>
            <a:srgbClr val="36254B">
              <a:alpha val="1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35" tIns="45717" rIns="91435" bIns="45717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endParaRPr lang="zh-CN" altLang="en-US" kern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95683" y="934771"/>
            <a:ext cx="6049233" cy="6049233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335344" y="116806"/>
            <a:ext cx="629839" cy="612736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21" y="809810"/>
            <a:ext cx="11488202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389" y="194125"/>
            <a:ext cx="5040050" cy="612743"/>
          </a:xfrm>
          <a:prstGeom prst="rect">
            <a:avLst/>
          </a:prstGeom>
        </p:spPr>
        <p:txBody>
          <a:bodyPr vert="horz" lIns="91435" tIns="45717" rIns="91435" bIns="45717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三条技术路线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1211873" y="6401715"/>
            <a:ext cx="108394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JUNE 12</a:t>
            </a:r>
            <a:r>
              <a:rPr kumimoji="0" lang="en-US" altLang="zh-CN" b="1" i="0" u="none" strike="noStrike" kern="120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th</a:t>
            </a:r>
            <a:endParaRPr kumimoji="0" lang="zh-CN" altLang="en-US" b="1" i="0" u="none" strike="noStrike" kern="1200" cap="none" spc="0" normalizeH="0" baseline="3000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5255" y="6444148"/>
            <a:ext cx="2117156" cy="338278"/>
          </a:xfrm>
          <a:prstGeom prst="rect">
            <a:avLst/>
          </a:prstGeom>
        </p:spPr>
      </p:pic>
      <p:grpSp>
        <p:nvGrpSpPr>
          <p:cNvPr id="43" name="组合 42"/>
          <p:cNvGrpSpPr/>
          <p:nvPr/>
        </p:nvGrpSpPr>
        <p:grpSpPr>
          <a:xfrm>
            <a:off x="9153728" y="116806"/>
            <a:ext cx="2764774" cy="612744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094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BEIHANG UNIVERSITY</a:t>
              </a:r>
              <a:endPara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582265" y="3397887"/>
            <a:ext cx="3349451" cy="2443353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40000"/>
              </a:lnSpc>
              <a:buFont typeface="Arial" panose="020B0604020202020204" pitchFamily="34" charset="0"/>
              <a:buNone/>
              <a:defRPr/>
            </a:pPr>
            <a:r>
              <a:rPr lang="en-US" altLang="zh-CN" sz="2400" kern="0" dirty="0">
                <a:solidFill>
                  <a:schemeClr val="tx1"/>
                </a:solidFill>
                <a:latin typeface="汉仪书魂体简" panose="02010600000101010101" charset="-122"/>
                <a:ea typeface="汉仪书魂体简" panose="02010600000101010101" charset="-122"/>
                <a:cs typeface="汉仪书魂体简" panose="02010600000101010101" charset="-122"/>
                <a:sym typeface="+mn-ea"/>
              </a:rPr>
              <a:t>  SAHI</a:t>
            </a:r>
            <a:r>
              <a:rPr lang="zh-CN" altLang="en-US" sz="2400" kern="0" dirty="0">
                <a:solidFill>
                  <a:schemeClr val="tx1"/>
                </a:solidFill>
                <a:latin typeface="汉仪书魂体简" panose="02010600000101010101" charset="-122"/>
                <a:ea typeface="汉仪书魂体简" panose="02010600000101010101" charset="-122"/>
                <a:cs typeface="汉仪书魂体简" panose="02010600000101010101" charset="-122"/>
                <a:sym typeface="+mn-ea"/>
              </a:rPr>
              <a:t>切片推理</a:t>
            </a:r>
            <a:endParaRPr lang="en-US" altLang="zh-CN" sz="2400" kern="0" dirty="0">
              <a:solidFill>
                <a:schemeClr val="tx1"/>
              </a:solidFill>
              <a:latin typeface="汉仪书魂体简" panose="02010600000101010101" charset="-122"/>
              <a:ea typeface="汉仪书魂体简" panose="02010600000101010101" charset="-122"/>
              <a:cs typeface="汉仪书魂体简" panose="02010600000101010101" charset="-122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  <a:defRPr/>
            </a:pPr>
            <a:r>
              <a:rPr lang="en-US" altLang="zh-CN" sz="2400" kern="0" dirty="0">
                <a:solidFill>
                  <a:schemeClr val="tx1"/>
                </a:solidFill>
                <a:latin typeface="汉仪书魂体简" panose="02010600000101010101" charset="-122"/>
                <a:ea typeface="汉仪书魂体简" panose="02010600000101010101" charset="-122"/>
                <a:cs typeface="汉仪书魂体简" panose="02010600000101010101" charset="-122"/>
                <a:sym typeface="+mn-ea"/>
              </a:rPr>
              <a:t>  </a:t>
            </a:r>
            <a:r>
              <a:rPr lang="zh-CN" altLang="en-US" sz="2400" kern="0" dirty="0">
                <a:solidFill>
                  <a:schemeClr val="tx1"/>
                </a:solidFill>
                <a:latin typeface="汉仪书魂体简" panose="02010600000101010101" charset="-122"/>
                <a:ea typeface="汉仪书魂体简" panose="02010600000101010101" charset="-122"/>
                <a:cs typeface="汉仪书魂体简" panose="02010600000101010101" charset="-122"/>
                <a:sym typeface="+mn-ea"/>
              </a:rPr>
              <a:t>保持分辨率，切片推理融合</a:t>
            </a:r>
            <a:endParaRPr lang="zh-CN" altLang="en-US" sz="2400" kern="0" dirty="0">
              <a:solidFill>
                <a:schemeClr val="tx1"/>
              </a:solidFill>
              <a:latin typeface="汉仪书魂体简" panose="02010600000101010101" charset="-122"/>
              <a:ea typeface="汉仪书魂体简" panose="02010600000101010101" charset="-122"/>
              <a:cs typeface="汉仪书魂体简" panose="02010600000101010101" charset="-122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  <a:defRPr/>
            </a:pPr>
            <a:r>
              <a:rPr lang="en-US" altLang="zh-CN" sz="2400">
                <a:latin typeface="汉仪书魂体简" panose="02010600000101010101" charset="-122"/>
                <a:ea typeface="汉仪书魂体简" panose="02010600000101010101" charset="-122"/>
                <a:cs typeface="汉仪书魂体简" panose="02010600000101010101" charset="-122"/>
              </a:rPr>
              <a:t>  +15.2% mAP</a:t>
            </a:r>
            <a:endParaRPr lang="en-US" altLang="zh-CN" sz="2400">
              <a:latin typeface="汉仪书魂体简" panose="02010600000101010101" charset="-122"/>
              <a:ea typeface="汉仪书魂体简" panose="02010600000101010101" charset="-122"/>
              <a:cs typeface="汉仪书魂体简" panose="02010600000101010101" charset="-122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521308" y="1473937"/>
            <a:ext cx="3620581" cy="4133000"/>
            <a:chOff x="821" y="2321"/>
            <a:chExt cx="5702" cy="6509"/>
          </a:xfrm>
        </p:grpSpPr>
        <p:sp>
          <p:nvSpPr>
            <p:cNvPr id="15" name="矩形 14"/>
            <p:cNvSpPr/>
            <p:nvPr>
              <p:custDataLst>
                <p:tags r:id="rId6"/>
              </p:custDataLst>
            </p:nvPr>
          </p:nvSpPr>
          <p:spPr>
            <a:xfrm>
              <a:off x="821" y="2321"/>
              <a:ext cx="5702" cy="1177"/>
            </a:xfrm>
            <a:prstGeom prst="rect">
              <a:avLst/>
            </a:prstGeom>
            <a:solidFill>
              <a:srgbClr val="02428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4000" b="1" kern="0" dirty="0">
                  <a:solidFill>
                    <a:prstClr val="white"/>
                  </a:solidFill>
                  <a:latin typeface="汉仪书魂体简" panose="02010600000101010101" charset="-122"/>
                  <a:ea typeface="汉仪书魂体简" panose="02010600000101010101" charset="-122"/>
                  <a:sym typeface="+mn-ea"/>
                </a:rPr>
                <a:t>路线一</a:t>
              </a:r>
              <a:endParaRPr lang="zh-CN" altLang="en-US" sz="4000" b="1" kern="0" dirty="0">
                <a:solidFill>
                  <a:prstClr val="white"/>
                </a:solidFill>
                <a:latin typeface="汉仪书魂体简" panose="02010600000101010101" charset="-122"/>
                <a:ea typeface="汉仪书魂体简" panose="02010600000101010101" charset="-122"/>
                <a:sym typeface="+mn-ea"/>
              </a:endParaRPr>
            </a:p>
          </p:txBody>
        </p:sp>
        <p:sp>
          <p:nvSpPr>
            <p:cNvPr id="8" name="矩形 7"/>
            <p:cNvSpPr/>
            <p:nvPr>
              <p:custDataLst>
                <p:tags r:id="rId7"/>
              </p:custDataLst>
            </p:nvPr>
          </p:nvSpPr>
          <p:spPr>
            <a:xfrm>
              <a:off x="886" y="5554"/>
              <a:ext cx="5637" cy="3276"/>
            </a:xfrm>
            <a:prstGeom prst="rect">
              <a:avLst/>
            </a:prstGeom>
            <a:noFill/>
            <a:ln w="12700" cap="flat" cmpd="sng" algn="ctr">
              <a:solidFill>
                <a:srgbClr val="024282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35" tIns="45717" rIns="91435" bIns="45717" numCol="1" spcCol="0" rtlCol="0" fromWordArt="0" anchor="ctr" anchorCtr="0" forceAA="0" compatLnSpc="1">
              <a:no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893" y="3634"/>
              <a:ext cx="5629" cy="1580"/>
            </a:xfrm>
            <a:prstGeom prst="rect">
              <a:avLst/>
            </a:prstGeom>
            <a:ln w="9525" cap="flat" cmpd="sng" algn="ctr">
              <a:solidFill>
                <a:schemeClr val="accent1"/>
              </a:solidFill>
              <a:prstDash val="dash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wrap="square" rtlCol="0">
              <a:noAutofit/>
            </a:bodyPr>
            <a:p>
              <a:pPr algn="ctr"/>
              <a:r>
                <a:rPr lang="zh-CN" altLang="en-US" sz="2800" b="1" kern="0" dirty="0">
                  <a:solidFill>
                    <a:schemeClr val="tx1"/>
                  </a:solidFill>
                  <a:latin typeface="汉仪书魂体简" panose="02010600000101010101" charset="-122"/>
                  <a:ea typeface="汉仪书魂体简" panose="02010600000101010101" charset="-122"/>
                  <a:cs typeface="汉仪书魂体简" panose="02010600000101010101" charset="-122"/>
                  <a:sym typeface="+mn-ea"/>
                </a:rPr>
                <a:t>推理层</a:t>
              </a:r>
              <a:r>
                <a:rPr lang="en-US" altLang="zh-CN" sz="2800" b="1" kern="0" dirty="0">
                  <a:solidFill>
                    <a:schemeClr val="tx1"/>
                  </a:solidFill>
                  <a:latin typeface="汉仪书魂体简" panose="02010600000101010101" charset="-122"/>
                  <a:ea typeface="汉仪书魂体简" panose="02010600000101010101" charset="-122"/>
                  <a:cs typeface="汉仪书魂体简" panose="02010600000101010101" charset="-122"/>
                  <a:sym typeface="+mn-ea"/>
                </a:rPr>
                <a:t>——</a:t>
              </a:r>
              <a:endParaRPr lang="zh-CN" altLang="en-US" sz="2800" b="1" kern="0" dirty="0">
                <a:solidFill>
                  <a:schemeClr val="tx1"/>
                </a:solidFill>
                <a:latin typeface="汉仪书魂体简" panose="02010600000101010101" charset="-122"/>
                <a:ea typeface="汉仪书魂体简" panose="02010600000101010101" charset="-122"/>
                <a:cs typeface="汉仪书魂体简" panose="02010600000101010101" charset="-122"/>
                <a:sym typeface="+mn-ea"/>
              </a:endParaRPr>
            </a:p>
            <a:p>
              <a:pPr algn="ctr"/>
              <a:r>
                <a:rPr lang="zh-CN" altLang="en-US" sz="2800" b="1" kern="0" dirty="0">
                  <a:solidFill>
                    <a:schemeClr val="tx1"/>
                  </a:solidFill>
                  <a:latin typeface="汉仪书魂体简" panose="02010600000101010101" charset="-122"/>
                  <a:ea typeface="汉仪书魂体简" panose="02010600000101010101" charset="-122"/>
                  <a:cs typeface="汉仪书魂体简" panose="02010600000101010101" charset="-122"/>
                  <a:sym typeface="+mn-ea"/>
                </a:rPr>
                <a:t>切片推理保持分辨率</a:t>
              </a:r>
              <a:endParaRPr lang="zh-CN" altLang="en-US" sz="2800" b="1" kern="0" dirty="0">
                <a:solidFill>
                  <a:schemeClr val="tx1"/>
                </a:solidFill>
                <a:latin typeface="汉仪书魂体简" panose="02010600000101010101" charset="-122"/>
                <a:ea typeface="汉仪书魂体简" panose="02010600000101010101" charset="-122"/>
                <a:cs typeface="汉仪书魂体简" panose="02010600000101010101" charset="-122"/>
              </a:endParaRPr>
            </a:p>
            <a:p>
              <a:pPr algn="ctr"/>
              <a:endParaRPr lang="zh-CN" altLang="en-US" sz="2800" b="1" kern="0" dirty="0">
                <a:solidFill>
                  <a:schemeClr val="tx1"/>
                </a:solidFill>
                <a:latin typeface="汉仪书魂体简" panose="02010600000101010101" charset="-122"/>
                <a:ea typeface="汉仪书魂体简" panose="02010600000101010101" charset="-122"/>
                <a:cs typeface="汉仪书魂体简" panose="02010600000101010101" charset="-122"/>
              </a:endParaRPr>
            </a:p>
          </p:txBody>
        </p:sp>
        <p:pic>
          <p:nvPicPr>
            <p:cNvPr id="37" name="图片 36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959" y="5719"/>
              <a:ext cx="472" cy="472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959" y="6506"/>
              <a:ext cx="472" cy="472"/>
            </a:xfrm>
            <a:prstGeom prst="rect">
              <a:avLst/>
            </a:prstGeom>
          </p:spPr>
        </p:pic>
        <p:pic>
          <p:nvPicPr>
            <p:cNvPr id="29" name="图片 28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959" y="8097"/>
              <a:ext cx="472" cy="472"/>
            </a:xfrm>
            <a:prstGeom prst="rect">
              <a:avLst/>
            </a:prstGeom>
          </p:spPr>
        </p:pic>
      </p:grpSp>
      <p:grpSp>
        <p:nvGrpSpPr>
          <p:cNvPr id="31" name="组合 30"/>
          <p:cNvGrpSpPr/>
          <p:nvPr/>
        </p:nvGrpSpPr>
        <p:grpSpPr>
          <a:xfrm>
            <a:off x="4389526" y="1473937"/>
            <a:ext cx="3620581" cy="4133000"/>
            <a:chOff x="821" y="2321"/>
            <a:chExt cx="5702" cy="6509"/>
          </a:xfrm>
        </p:grpSpPr>
        <p:sp>
          <p:nvSpPr>
            <p:cNvPr id="32" name="矩形 31"/>
            <p:cNvSpPr/>
            <p:nvPr>
              <p:custDataLst>
                <p:tags r:id="rId12"/>
              </p:custDataLst>
            </p:nvPr>
          </p:nvSpPr>
          <p:spPr>
            <a:xfrm>
              <a:off x="821" y="2321"/>
              <a:ext cx="5702" cy="1177"/>
            </a:xfrm>
            <a:prstGeom prst="rect">
              <a:avLst/>
            </a:prstGeom>
            <a:solidFill>
              <a:srgbClr val="02428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4000" b="1" kern="0" dirty="0">
                  <a:solidFill>
                    <a:prstClr val="white"/>
                  </a:solidFill>
                  <a:latin typeface="汉仪书魂体简" panose="02010600000101010101" charset="-122"/>
                  <a:ea typeface="汉仪书魂体简" panose="02010600000101010101" charset="-122"/>
                  <a:sym typeface="+mn-ea"/>
                </a:rPr>
                <a:t>路线二</a:t>
              </a:r>
              <a:endParaRPr lang="zh-CN" altLang="en-US" sz="4000" b="1" kern="0" dirty="0">
                <a:solidFill>
                  <a:prstClr val="white"/>
                </a:solidFill>
                <a:latin typeface="汉仪书魂体简" panose="02010600000101010101" charset="-122"/>
                <a:ea typeface="汉仪书魂体简" panose="02010600000101010101" charset="-122"/>
                <a:sym typeface="+mn-ea"/>
              </a:endParaRPr>
            </a:p>
          </p:txBody>
        </p:sp>
        <p:sp>
          <p:nvSpPr>
            <p:cNvPr id="33" name="矩形 32"/>
            <p:cNvSpPr/>
            <p:nvPr>
              <p:custDataLst>
                <p:tags r:id="rId13"/>
              </p:custDataLst>
            </p:nvPr>
          </p:nvSpPr>
          <p:spPr>
            <a:xfrm>
              <a:off x="886" y="5554"/>
              <a:ext cx="5637" cy="3276"/>
            </a:xfrm>
            <a:prstGeom prst="rect">
              <a:avLst/>
            </a:prstGeom>
            <a:noFill/>
            <a:ln w="12700" cap="flat" cmpd="sng" algn="ctr">
              <a:solidFill>
                <a:srgbClr val="024282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35" tIns="45717" rIns="91435" bIns="45717" numCol="1" spcCol="0" rtlCol="0" fromWordArt="0" anchor="ctr" anchorCtr="0" forceAA="0" compatLnSpc="1">
              <a:no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893" y="3634"/>
              <a:ext cx="5629" cy="1580"/>
            </a:xfrm>
            <a:prstGeom prst="rect">
              <a:avLst/>
            </a:prstGeom>
            <a:ln w="9525" cap="flat" cmpd="sng" algn="ctr">
              <a:solidFill>
                <a:schemeClr val="accent1"/>
              </a:solidFill>
              <a:prstDash val="dash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wrap="square" rtlCol="0">
              <a:noAutofit/>
            </a:bodyPr>
            <a:p>
              <a:pPr algn="ctr"/>
              <a:r>
                <a:rPr lang="zh-CN" altLang="en-US" sz="2800" b="1" kern="0" dirty="0">
                  <a:solidFill>
                    <a:schemeClr val="tx1"/>
                  </a:solidFill>
                  <a:latin typeface="汉仪书魂体简" panose="02010600000101010101" charset="-122"/>
                  <a:ea typeface="汉仪书魂体简" panose="02010600000101010101" charset="-122"/>
                  <a:cs typeface="汉仪书魂体简" panose="02010600000101010101" charset="-122"/>
                  <a:sym typeface="+mn-ea"/>
                </a:rPr>
                <a:t>融合层</a:t>
              </a:r>
              <a:r>
                <a:rPr lang="en-US" altLang="zh-CN" sz="2800" b="1" kern="0" dirty="0">
                  <a:solidFill>
                    <a:schemeClr val="tx1"/>
                  </a:solidFill>
                  <a:latin typeface="汉仪书魂体简" panose="02010600000101010101" charset="-122"/>
                  <a:ea typeface="汉仪书魂体简" panose="02010600000101010101" charset="-122"/>
                  <a:cs typeface="汉仪书魂体简" panose="02010600000101010101" charset="-122"/>
                  <a:sym typeface="+mn-ea"/>
                </a:rPr>
                <a:t>——</a:t>
              </a:r>
              <a:endParaRPr lang="zh-CN" altLang="en-US" sz="2800" b="1" kern="0" dirty="0">
                <a:solidFill>
                  <a:schemeClr val="tx1"/>
                </a:solidFill>
                <a:latin typeface="汉仪书魂体简" panose="02010600000101010101" charset="-122"/>
                <a:ea typeface="汉仪书魂体简" panose="02010600000101010101" charset="-122"/>
                <a:cs typeface="汉仪书魂体简" panose="02010600000101010101" charset="-122"/>
                <a:sym typeface="+mn-ea"/>
              </a:endParaRPr>
            </a:p>
            <a:p>
              <a:pPr algn="ctr"/>
              <a:r>
                <a:rPr lang="zh-CN" altLang="en-US" sz="2800" b="1" kern="0" dirty="0">
                  <a:solidFill>
                    <a:schemeClr val="tx1"/>
                  </a:solidFill>
                  <a:latin typeface="汉仪书魂体简" panose="02010600000101010101" charset="-122"/>
                  <a:ea typeface="汉仪书魂体简" panose="02010600000101010101" charset="-122"/>
                  <a:cs typeface="汉仪书魂体简" panose="02010600000101010101" charset="-122"/>
                </a:rPr>
                <a:t>多路径特征融合</a:t>
              </a:r>
              <a:endParaRPr lang="zh-CN" altLang="en-US" sz="2800" b="1" kern="0" dirty="0">
                <a:solidFill>
                  <a:schemeClr val="tx1"/>
                </a:solidFill>
                <a:latin typeface="汉仪书魂体简" panose="02010600000101010101" charset="-122"/>
                <a:ea typeface="汉仪书魂体简" panose="02010600000101010101" charset="-122"/>
                <a:cs typeface="汉仪书魂体简" panose="02010600000101010101" charset="-122"/>
              </a:endParaRPr>
            </a:p>
            <a:p>
              <a:pPr algn="ctr"/>
              <a:endParaRPr lang="zh-CN" altLang="en-US" sz="2800" b="1" kern="0" dirty="0">
                <a:solidFill>
                  <a:schemeClr val="tx1"/>
                </a:solidFill>
                <a:latin typeface="汉仪书魂体简" panose="02010600000101010101" charset="-122"/>
                <a:ea typeface="汉仪书魂体简" panose="02010600000101010101" charset="-122"/>
                <a:cs typeface="汉仪书魂体简" panose="02010600000101010101" charset="-122"/>
              </a:endParaRPr>
            </a:p>
          </p:txBody>
        </p:sp>
        <p:pic>
          <p:nvPicPr>
            <p:cNvPr id="35" name="图片 34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959" y="5719"/>
              <a:ext cx="472" cy="472"/>
            </a:xfrm>
            <a:prstGeom prst="rect">
              <a:avLst/>
            </a:prstGeom>
          </p:spPr>
        </p:pic>
        <p:pic>
          <p:nvPicPr>
            <p:cNvPr id="36" name="图片 35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959" y="6506"/>
              <a:ext cx="472" cy="472"/>
            </a:xfrm>
            <a:prstGeom prst="rect">
              <a:avLst/>
            </a:prstGeom>
          </p:spPr>
        </p:pic>
        <p:pic>
          <p:nvPicPr>
            <p:cNvPr id="38" name="图片 37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959" y="8097"/>
              <a:ext cx="472" cy="472"/>
            </a:xfrm>
            <a:prstGeom prst="rect">
              <a:avLst/>
            </a:prstGeom>
          </p:spPr>
        </p:pic>
      </p:grpSp>
      <p:sp>
        <p:nvSpPr>
          <p:cNvPr id="39" name="文本框 38"/>
          <p:cNvSpPr txBox="1"/>
          <p:nvPr/>
        </p:nvSpPr>
        <p:spPr>
          <a:xfrm>
            <a:off x="4461278" y="3397887"/>
            <a:ext cx="3349451" cy="2443353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40000"/>
              </a:lnSpc>
              <a:buFont typeface="Arial" panose="020B0604020202020204" pitchFamily="34" charset="0"/>
              <a:buNone/>
              <a:defRPr/>
            </a:pPr>
            <a:r>
              <a:rPr lang="en-US" altLang="zh-CN" sz="2400" kern="0" dirty="0">
                <a:solidFill>
                  <a:schemeClr val="tx1"/>
                </a:solidFill>
                <a:latin typeface="汉仪书魂体简" panose="02010600000101010101" charset="-122"/>
                <a:ea typeface="汉仪书魂体简" panose="02010600000101010101" charset="-122"/>
                <a:cs typeface="汉仪书魂体简" panose="02010600000101010101" charset="-122"/>
                <a:sym typeface="+mn-ea"/>
              </a:rPr>
              <a:t>  </a:t>
            </a:r>
            <a:r>
              <a:rPr lang="en-US" altLang="zh-CN" sz="2400" kern="0" dirty="0">
                <a:solidFill>
                  <a:schemeClr val="tx1"/>
                </a:solidFill>
                <a:latin typeface="汉仪书魂体简" panose="02010600000101010101" charset="-122"/>
                <a:ea typeface="汉仪书魂体简" panose="02010600000101010101" charset="-122"/>
                <a:cs typeface="汉仪书魂体简" panose="02010600000101010101" charset="-122"/>
              </a:rPr>
              <a:t>MASF-YOLO</a:t>
            </a:r>
            <a:endParaRPr lang="en-US" altLang="zh-CN" sz="2400" kern="0" dirty="0">
              <a:solidFill>
                <a:schemeClr val="tx1"/>
              </a:solidFill>
              <a:latin typeface="汉仪书魂体简" panose="02010600000101010101" charset="-122"/>
              <a:ea typeface="汉仪书魂体简" panose="02010600000101010101" charset="-122"/>
              <a:cs typeface="汉仪书魂体简" panose="02010600000101010101" charset="-122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  <a:defRPr/>
            </a:pPr>
            <a:r>
              <a:rPr lang="en-US" altLang="zh-CN" sz="2400" kern="0" dirty="0">
                <a:solidFill>
                  <a:schemeClr val="tx1"/>
                </a:solidFill>
                <a:latin typeface="汉仪书魂体简" panose="02010600000101010101" charset="-122"/>
                <a:ea typeface="汉仪书魂体简" panose="02010600000101010101" charset="-122"/>
                <a:cs typeface="汉仪书魂体简" panose="02010600000101010101" charset="-122"/>
                <a:sym typeface="+mn-ea"/>
              </a:rPr>
              <a:t>  </a:t>
            </a:r>
            <a:r>
              <a:rPr lang="zh-CN" altLang="en-US" sz="2400" kern="0" dirty="0">
                <a:solidFill>
                  <a:schemeClr val="tx1"/>
                </a:solidFill>
                <a:latin typeface="汉仪书魂体简" panose="02010600000101010101" charset="-122"/>
                <a:ea typeface="汉仪书魂体简" panose="02010600000101010101" charset="-122"/>
                <a:cs typeface="汉仪书魂体简" panose="02010600000101010101" charset="-122"/>
                <a:sym typeface="+mn-ea"/>
              </a:rPr>
              <a:t>多路径聚合，动态融合权重</a:t>
            </a:r>
            <a:endParaRPr lang="zh-CN" altLang="en-US" sz="2400" kern="0" dirty="0">
              <a:solidFill>
                <a:schemeClr val="tx1"/>
              </a:solidFill>
              <a:latin typeface="汉仪书魂体简" panose="02010600000101010101" charset="-122"/>
              <a:ea typeface="汉仪书魂体简" panose="02010600000101010101" charset="-122"/>
              <a:cs typeface="汉仪书魂体简" panose="02010600000101010101" charset="-122"/>
              <a:sym typeface="+mn-ea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  <a:defRPr/>
            </a:pPr>
            <a:r>
              <a:rPr lang="en-US" altLang="zh-CN" sz="2400">
                <a:latin typeface="汉仪书魂体简" panose="02010600000101010101" charset="-122"/>
                <a:ea typeface="汉仪书魂体简" panose="02010600000101010101" charset="-122"/>
                <a:cs typeface="汉仪书魂体简" panose="02010600000101010101" charset="-122"/>
              </a:rPr>
              <a:t>  +4.6% mAP </a:t>
            </a:r>
            <a:endParaRPr lang="en-US" altLang="zh-CN" sz="2400">
              <a:latin typeface="汉仪书魂体简" panose="02010600000101010101" charset="-122"/>
              <a:ea typeface="汉仪书魂体简" panose="02010600000101010101" charset="-122"/>
              <a:cs typeface="汉仪书魂体简" panose="02010600000101010101" charset="-122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8214567" y="1465047"/>
            <a:ext cx="3620581" cy="4133000"/>
            <a:chOff x="821" y="2321"/>
            <a:chExt cx="5702" cy="6509"/>
          </a:xfrm>
        </p:grpSpPr>
        <p:sp>
          <p:nvSpPr>
            <p:cNvPr id="41" name="矩形 40"/>
            <p:cNvSpPr/>
            <p:nvPr>
              <p:custDataLst>
                <p:tags r:id="rId17"/>
              </p:custDataLst>
            </p:nvPr>
          </p:nvSpPr>
          <p:spPr>
            <a:xfrm>
              <a:off x="821" y="2321"/>
              <a:ext cx="5702" cy="1177"/>
            </a:xfrm>
            <a:prstGeom prst="rect">
              <a:avLst/>
            </a:prstGeom>
            <a:solidFill>
              <a:srgbClr val="02428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4000" b="1" kern="0" dirty="0">
                  <a:solidFill>
                    <a:prstClr val="white"/>
                  </a:solidFill>
                  <a:latin typeface="汉仪书魂体简" panose="02010600000101010101" charset="-122"/>
                  <a:ea typeface="汉仪书魂体简" panose="02010600000101010101" charset="-122"/>
                  <a:sym typeface="+mn-ea"/>
                </a:rPr>
                <a:t>路线三</a:t>
              </a:r>
              <a:endParaRPr lang="zh-CN" altLang="en-US" sz="4000" b="1" kern="0" dirty="0">
                <a:solidFill>
                  <a:prstClr val="white"/>
                </a:solidFill>
                <a:latin typeface="汉仪书魂体简" panose="02010600000101010101" charset="-122"/>
                <a:ea typeface="汉仪书魂体简" panose="02010600000101010101" charset="-122"/>
                <a:sym typeface="+mn-ea"/>
              </a:endParaRPr>
            </a:p>
          </p:txBody>
        </p:sp>
        <p:sp>
          <p:nvSpPr>
            <p:cNvPr id="42" name="矩形 41"/>
            <p:cNvSpPr/>
            <p:nvPr>
              <p:custDataLst>
                <p:tags r:id="rId18"/>
              </p:custDataLst>
            </p:nvPr>
          </p:nvSpPr>
          <p:spPr>
            <a:xfrm>
              <a:off x="886" y="5554"/>
              <a:ext cx="5637" cy="3276"/>
            </a:xfrm>
            <a:prstGeom prst="rect">
              <a:avLst/>
            </a:prstGeom>
            <a:noFill/>
            <a:ln w="12700" cap="flat" cmpd="sng" algn="ctr">
              <a:solidFill>
                <a:srgbClr val="024282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35" tIns="45717" rIns="91435" bIns="45717" numCol="1" spcCol="0" rtlCol="0" fromWordArt="0" anchor="ctr" anchorCtr="0" forceAA="0" compatLnSpc="1">
              <a:no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893" y="3634"/>
              <a:ext cx="5629" cy="1580"/>
            </a:xfrm>
            <a:prstGeom prst="rect">
              <a:avLst/>
            </a:prstGeom>
            <a:ln w="9525" cap="flat" cmpd="sng" algn="ctr">
              <a:solidFill>
                <a:schemeClr val="accent1"/>
              </a:solidFill>
              <a:prstDash val="dash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wrap="square" rtlCol="0">
              <a:noAutofit/>
            </a:bodyPr>
            <a:p>
              <a:pPr algn="ctr"/>
              <a:r>
                <a:rPr lang="zh-CN" altLang="en-US" sz="2800" b="1" kern="0" dirty="0">
                  <a:solidFill>
                    <a:schemeClr val="tx1"/>
                  </a:solidFill>
                  <a:latin typeface="汉仪书魂体简" panose="02010600000101010101" charset="-122"/>
                  <a:ea typeface="汉仪书魂体简" panose="02010600000101010101" charset="-122"/>
                  <a:cs typeface="汉仪书魂体简" panose="02010600000101010101" charset="-122"/>
                  <a:sym typeface="+mn-ea"/>
                </a:rPr>
                <a:t>注意力层</a:t>
              </a:r>
              <a:r>
                <a:rPr lang="en-US" altLang="zh-CN" sz="2800" b="1" kern="0" dirty="0">
                  <a:solidFill>
                    <a:schemeClr val="tx1"/>
                  </a:solidFill>
                  <a:latin typeface="汉仪书魂体简" panose="02010600000101010101" charset="-122"/>
                  <a:ea typeface="汉仪书魂体简" panose="02010600000101010101" charset="-122"/>
                  <a:cs typeface="汉仪书魂体简" panose="02010600000101010101" charset="-122"/>
                  <a:sym typeface="+mn-ea"/>
                </a:rPr>
                <a:t>——</a:t>
              </a:r>
              <a:endParaRPr lang="zh-CN" altLang="en-US" sz="2800" b="1" kern="0" dirty="0">
                <a:solidFill>
                  <a:schemeClr val="tx1"/>
                </a:solidFill>
                <a:latin typeface="汉仪书魂体简" panose="02010600000101010101" charset="-122"/>
                <a:ea typeface="汉仪书魂体简" panose="02010600000101010101" charset="-122"/>
                <a:cs typeface="汉仪书魂体简" panose="02010600000101010101" charset="-122"/>
                <a:sym typeface="+mn-ea"/>
              </a:endParaRPr>
            </a:p>
            <a:p>
              <a:pPr algn="ctr"/>
              <a:r>
                <a:rPr lang="zh-CN" altLang="en-US" sz="2800" b="1" kern="0" dirty="0">
                  <a:solidFill>
                    <a:schemeClr val="tx1"/>
                  </a:solidFill>
                  <a:latin typeface="汉仪书魂体简" panose="02010600000101010101" charset="-122"/>
                  <a:ea typeface="汉仪书魂体简" panose="02010600000101010101" charset="-122"/>
                  <a:cs typeface="汉仪书魂体简" panose="02010600000101010101" charset="-122"/>
                </a:rPr>
                <a:t>位置敏感注意力</a:t>
              </a:r>
              <a:endParaRPr lang="zh-CN" altLang="en-US" sz="2800" b="1" kern="0" dirty="0">
                <a:solidFill>
                  <a:schemeClr val="tx1"/>
                </a:solidFill>
                <a:latin typeface="汉仪书魂体简" panose="02010600000101010101" charset="-122"/>
                <a:ea typeface="汉仪书魂体简" panose="02010600000101010101" charset="-122"/>
                <a:cs typeface="汉仪书魂体简" panose="02010600000101010101" charset="-122"/>
              </a:endParaRPr>
            </a:p>
            <a:p>
              <a:pPr algn="ctr"/>
              <a:endParaRPr lang="zh-CN" altLang="en-US" sz="2800" b="1" kern="0" dirty="0">
                <a:solidFill>
                  <a:schemeClr val="tx1"/>
                </a:solidFill>
                <a:latin typeface="汉仪书魂体简" panose="02010600000101010101" charset="-122"/>
                <a:ea typeface="汉仪书魂体简" panose="02010600000101010101" charset="-122"/>
                <a:cs typeface="汉仪书魂体简" panose="02010600000101010101" charset="-122"/>
              </a:endParaRPr>
            </a:p>
          </p:txBody>
        </p:sp>
        <p:pic>
          <p:nvPicPr>
            <p:cNvPr id="48" name="图片 47"/>
            <p:cNvPicPr>
              <a:picLocks noChangeAspect="1"/>
            </p:cNvPicPr>
            <p:nvPr>
              <p:custDataLst>
                <p:tags r:id="rId19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959" y="5719"/>
              <a:ext cx="472" cy="472"/>
            </a:xfrm>
            <a:prstGeom prst="rect">
              <a:avLst/>
            </a:prstGeom>
          </p:spPr>
        </p:pic>
        <p:pic>
          <p:nvPicPr>
            <p:cNvPr id="49" name="图片 48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959" y="6506"/>
              <a:ext cx="472" cy="472"/>
            </a:xfrm>
            <a:prstGeom prst="rect">
              <a:avLst/>
            </a:prstGeom>
          </p:spPr>
        </p:pic>
        <p:pic>
          <p:nvPicPr>
            <p:cNvPr id="50" name="图片 49"/>
            <p:cNvPicPr>
              <a:picLocks noChangeAspect="1"/>
            </p:cNvPicPr>
            <p:nvPr>
              <p:custDataLst>
                <p:tags r:id="rId21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959" y="8097"/>
              <a:ext cx="472" cy="472"/>
            </a:xfrm>
            <a:prstGeom prst="rect">
              <a:avLst/>
            </a:prstGeom>
          </p:spPr>
        </p:pic>
      </p:grpSp>
      <p:sp>
        <p:nvSpPr>
          <p:cNvPr id="59" name="文本框 58"/>
          <p:cNvSpPr txBox="1"/>
          <p:nvPr/>
        </p:nvSpPr>
        <p:spPr>
          <a:xfrm>
            <a:off x="8299018" y="3397887"/>
            <a:ext cx="3349451" cy="2443353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40000"/>
              </a:lnSpc>
              <a:buFont typeface="Arial" panose="020B0604020202020204" pitchFamily="34" charset="0"/>
              <a:buNone/>
              <a:defRPr/>
            </a:pPr>
            <a:r>
              <a:rPr lang="en-US" altLang="zh-CN" sz="2400" kern="0" dirty="0">
                <a:solidFill>
                  <a:schemeClr val="tx1"/>
                </a:solidFill>
                <a:latin typeface="汉仪书魂体简" panose="02010600000101010101" charset="-122"/>
                <a:ea typeface="汉仪书魂体简" panose="02010600000101010101" charset="-122"/>
                <a:cs typeface="汉仪书魂体简" panose="02010600000101010101" charset="-122"/>
                <a:sym typeface="+mn-ea"/>
              </a:rPr>
              <a:t>  </a:t>
            </a:r>
            <a:r>
              <a:rPr lang="en-US" altLang="zh-CN" sz="2400" kern="0" dirty="0">
                <a:solidFill>
                  <a:schemeClr val="tx1"/>
                </a:solidFill>
                <a:latin typeface="汉仪书魂体简" panose="02010600000101010101" charset="-122"/>
                <a:ea typeface="汉仪书魂体简" panose="02010600000101010101" charset="-122"/>
                <a:cs typeface="汉仪书魂体简" panose="02010600000101010101" charset="-122"/>
              </a:rPr>
              <a:t>CA/ECA</a:t>
            </a:r>
            <a:endParaRPr lang="en-US" altLang="zh-CN" sz="2400" kern="0" dirty="0">
              <a:solidFill>
                <a:schemeClr val="tx1"/>
              </a:solidFill>
              <a:latin typeface="汉仪书魂体简" panose="02010600000101010101" charset="-122"/>
              <a:ea typeface="汉仪书魂体简" panose="02010600000101010101" charset="-122"/>
              <a:cs typeface="汉仪书魂体简" panose="02010600000101010101" charset="-122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  <a:defRPr/>
            </a:pPr>
            <a:r>
              <a:rPr lang="en-US" altLang="zh-CN" sz="2400" kern="0" dirty="0">
                <a:solidFill>
                  <a:schemeClr val="tx1"/>
                </a:solidFill>
                <a:latin typeface="汉仪书魂体简" panose="02010600000101010101" charset="-122"/>
                <a:ea typeface="汉仪书魂体简" panose="02010600000101010101" charset="-122"/>
                <a:cs typeface="汉仪书魂体简" panose="02010600000101010101" charset="-122"/>
                <a:sym typeface="+mn-ea"/>
              </a:rPr>
              <a:t>  </a:t>
            </a:r>
            <a:r>
              <a:rPr lang="zh-CN" altLang="en-US" sz="2400">
                <a:latin typeface="汉仪书魂体简" panose="02010600000101010101" charset="-122"/>
                <a:ea typeface="汉仪书魂体简" panose="02010600000101010101" charset="-122"/>
                <a:cs typeface="汉仪书魂体简" panose="02010600000101010101" charset="-122"/>
              </a:rPr>
              <a:t>保留位置信息，抑制无效背景</a:t>
            </a:r>
            <a:r>
              <a:rPr lang="en-US" altLang="zh-CN" sz="2400">
                <a:latin typeface="汉仪书魂体简" panose="02010600000101010101" charset="-122"/>
                <a:ea typeface="汉仪书魂体简" panose="02010600000101010101" charset="-122"/>
                <a:cs typeface="汉仪书魂体简" panose="02010600000101010101" charset="-122"/>
              </a:rPr>
              <a:t>  </a:t>
            </a:r>
            <a:endParaRPr lang="en-US" altLang="zh-CN" sz="2400">
              <a:latin typeface="汉仪书魂体简" panose="02010600000101010101" charset="-122"/>
              <a:ea typeface="汉仪书魂体简" panose="02010600000101010101" charset="-122"/>
              <a:cs typeface="汉仪书魂体简" panose="02010600000101010101" charset="-122"/>
            </a:endParaRPr>
          </a:p>
          <a:p>
            <a:pPr indent="0">
              <a:lnSpc>
                <a:spcPct val="140000"/>
              </a:lnSpc>
              <a:buFont typeface="Arial" panose="020B0604020202020204" pitchFamily="34" charset="0"/>
              <a:buNone/>
              <a:defRPr/>
            </a:pPr>
            <a:r>
              <a:rPr lang="en-US" altLang="zh-CN" sz="2400">
                <a:latin typeface="汉仪书魂体简" panose="02010600000101010101" charset="-122"/>
                <a:ea typeface="汉仪书魂体简" panose="02010600000101010101" charset="-122"/>
                <a:cs typeface="汉仪书魂体简" panose="02010600000101010101" charset="-122"/>
              </a:rPr>
              <a:t>  +1.3% mAP </a:t>
            </a:r>
            <a:endParaRPr lang="en-US" altLang="zh-CN" sz="2400">
              <a:latin typeface="汉仪书魂体简" panose="02010600000101010101" charset="-122"/>
              <a:ea typeface="汉仪书魂体简" panose="02010600000101010101" charset="-122"/>
              <a:cs typeface="汉仪书魂体简" panose="0201060000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14:gallery dir="l"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7492" y="140921"/>
            <a:ext cx="7019563" cy="7019563"/>
          </a:xfrm>
          <a:prstGeom prst="rect">
            <a:avLst/>
          </a:prstGeom>
        </p:spPr>
      </p:pic>
      <p:sp>
        <p:nvSpPr>
          <p:cNvPr id="2" name="文本占位符 3"/>
          <p:cNvSpPr txBox="1"/>
          <p:nvPr/>
        </p:nvSpPr>
        <p:spPr>
          <a:xfrm>
            <a:off x="6435744" y="779345"/>
            <a:ext cx="4256462" cy="1612816"/>
          </a:xfrm>
          <a:prstGeom prst="rect">
            <a:avLst/>
          </a:prstGeom>
        </p:spPr>
        <p:txBody>
          <a:bodyPr vert="horz" lIns="91435" tIns="45717" rIns="91435" bIns="45717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000" b="1" kern="1200"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99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effectLst/>
                <a:uLnTx/>
                <a:uFillTx/>
                <a:latin typeface="Arial Black" panose="020B0A04020102020204" pitchFamily="34" charset="0"/>
                <a:ea typeface="微软雅黑" panose="020B0503020204020204" charset="-122"/>
                <a:cs typeface="+mn-cs"/>
              </a:rPr>
              <a:t>02</a:t>
            </a:r>
            <a:endParaRPr kumimoji="0" lang="zh-CN" altLang="en-US" sz="19900" b="1" i="0" u="none" strike="noStrike" kern="1200" cap="none" spc="0" normalizeH="0" baseline="0" noProof="0" dirty="0">
              <a:ln>
                <a:noFill/>
              </a:ln>
              <a:gradFill>
                <a:gsLst>
                  <a:gs pos="36000">
                    <a:srgbClr val="024282"/>
                  </a:gs>
                  <a:gs pos="100000">
                    <a:srgbClr val="2764A7">
                      <a:lumMod val="15000"/>
                      <a:lumOff val="85000"/>
                      <a:alpha val="27000"/>
                    </a:srgbClr>
                  </a:gs>
                </a:gsLst>
                <a:lin ang="5400000" scaled="0"/>
              </a:gradFill>
              <a:effectLst/>
              <a:uLnTx/>
              <a:uFillTx/>
              <a:latin typeface="Arial Black" panose="020B0A040201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3" name="文本占位符 4"/>
          <p:cNvSpPr txBox="1"/>
          <p:nvPr/>
        </p:nvSpPr>
        <p:spPr>
          <a:xfrm>
            <a:off x="1852975" y="3246907"/>
            <a:ext cx="7302442" cy="660366"/>
          </a:xfrm>
          <a:prstGeom prst="rect">
            <a:avLst/>
          </a:prstGeom>
        </p:spPr>
        <p:txBody>
          <a:bodyPr vert="horz" lIns="91435" tIns="45717" rIns="91435" bIns="45717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b="1" kern="120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6600" noProof="0" dirty="0">
                <a:ln>
                  <a:noFill/>
                </a:ln>
                <a:effectLst/>
                <a:uLnTx/>
                <a:uFillTx/>
                <a:sym typeface="+mn-ea"/>
              </a:rPr>
              <a:t>YOLO </a:t>
            </a:r>
            <a:r>
              <a:rPr lang="zh-CN" altLang="en-US" sz="6600" noProof="0" dirty="0">
                <a:ln>
                  <a:noFill/>
                </a:ln>
                <a:effectLst/>
                <a:uLnTx/>
                <a:uFillTx/>
                <a:sym typeface="+mn-ea"/>
              </a:rPr>
              <a:t>的初步认知</a:t>
            </a:r>
            <a:endParaRPr kumimoji="0" lang="zh-CN" altLang="en-US" sz="66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-3049397" y="-2033529"/>
            <a:ext cx="7488982" cy="4794907"/>
            <a:chOff x="-3802743" y="-2148114"/>
            <a:chExt cx="7489372" cy="4795157"/>
          </a:xfrm>
        </p:grpSpPr>
        <p:sp>
          <p:nvSpPr>
            <p:cNvPr id="5" name="平行四边形 4"/>
            <p:cNvSpPr/>
            <p:nvPr/>
          </p:nvSpPr>
          <p:spPr>
            <a:xfrm>
              <a:off x="-3802743" y="-2148114"/>
              <a:ext cx="7489372" cy="4795157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 flipH="1" flipV="1">
            <a:off x="7823784" y="4149042"/>
            <a:ext cx="7488982" cy="4650899"/>
            <a:chOff x="-3802743" y="-2004098"/>
            <a:chExt cx="7489372" cy="4651141"/>
          </a:xfrm>
        </p:grpSpPr>
        <p:sp>
          <p:nvSpPr>
            <p:cNvPr id="8" name="平行四边形 7"/>
            <p:cNvSpPr/>
            <p:nvPr/>
          </p:nvSpPr>
          <p:spPr>
            <a:xfrm>
              <a:off x="-3802743" y="-2004098"/>
              <a:ext cx="7489372" cy="4651141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平行四边形 8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6" name="直接连接符 15"/>
          <p:cNvCxnSpPr/>
          <p:nvPr/>
        </p:nvCxnSpPr>
        <p:spPr>
          <a:xfrm>
            <a:off x="2155999" y="4293051"/>
            <a:ext cx="6696395" cy="0"/>
          </a:xfrm>
          <a:prstGeom prst="line">
            <a:avLst/>
          </a:prstGeom>
          <a:ln w="285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0115" y="6274109"/>
            <a:ext cx="2583792" cy="412837"/>
          </a:xfrm>
          <a:prstGeom prst="rect">
            <a:avLst/>
          </a:prstGeom>
        </p:spPr>
      </p:pic>
      <p:grpSp>
        <p:nvGrpSpPr>
          <p:cNvPr id="23" name="组合 22"/>
          <p:cNvGrpSpPr/>
          <p:nvPr/>
        </p:nvGrpSpPr>
        <p:grpSpPr>
          <a:xfrm>
            <a:off x="9114290" y="102906"/>
            <a:ext cx="2879158" cy="743434"/>
            <a:chOff x="825667" y="458497"/>
            <a:chExt cx="4856203" cy="1253932"/>
          </a:xfrm>
        </p:grpSpPr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825667" y="458497"/>
              <a:ext cx="1253932" cy="1253932"/>
            </a:xfrm>
            <a:prstGeom prst="rect">
              <a:avLst/>
            </a:prstGeom>
          </p:spPr>
        </p:pic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26" name="矩形 25"/>
            <p:cNvSpPr/>
            <p:nvPr/>
          </p:nvSpPr>
          <p:spPr>
            <a:xfrm>
              <a:off x="2085463" y="1172848"/>
              <a:ext cx="3596407" cy="36094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BEIHANG UNIVERSITY</a:t>
              </a:r>
              <a:endPara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14:gallery dir="l"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A5676"/>
                </a:solidFill>
              </a:defRPr>
            </a:pPr>
            <a:r>
              <a:t>风电 vs 桥梁：跨领域技术对比</a:t>
            </a:r>
          </a:p>
        </p:txBody>
      </p:sp>
      <p:pic>
        <p:nvPicPr>
          <p:cNvPr id="3" name="Picture 2" descr="fig07_cross_domai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11430000" cy="620116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共性: 裂纹检测是两个领域的核心需求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共性: 轻量化+注意力+BiFPN是共同最佳实践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启示: 桥梁数据丰富(56K)，可先训练再迁移到风电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A5676"/>
                </a:solidFill>
              </a:defRPr>
            </a:pPr>
            <a:r>
              <a:t>数据集现状与增强策略</a:t>
            </a:r>
          </a:p>
        </p:txBody>
      </p:sp>
      <p:pic>
        <p:nvPicPr>
          <p:cNvPr id="3" name="Picture 2" descr="fig08_dataset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5943600" cy="326042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0972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数据增强策略: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Mosaic (4张拼接) → +30% mAP ★★★★★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MixUp (2张混合) → +10% mAP ★★★★★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CopyPaste (缺陷复制) → +3.2% mAP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分辨率渐进 640→1280→1920px ★★★★★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分辨率渐进训练 (memari-majid, 2024):</a:t>
            </a:r>
          </a:p>
          <a:p>
            <a:pPr>
              <a:spcAft>
                <a:spcPts val="400"/>
              </a:spcAft>
              <a:defRPr sz="1300">
                <a:solidFill>
                  <a:srgbClr val="333333"/>
                </a:solidFill>
              </a:defRPr>
            </a:pPr>
            <a:r>
              <a:t>  低分辨率收敛快 → 高分辨率保留小缺陷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7492" y="140921"/>
            <a:ext cx="7019563" cy="7019563"/>
          </a:xfrm>
          <a:prstGeom prst="rect">
            <a:avLst/>
          </a:prstGeom>
        </p:spPr>
      </p:pic>
      <p:sp>
        <p:nvSpPr>
          <p:cNvPr id="2" name="文本占位符 3"/>
          <p:cNvSpPr txBox="1"/>
          <p:nvPr/>
        </p:nvSpPr>
        <p:spPr>
          <a:xfrm>
            <a:off x="6435744" y="779345"/>
            <a:ext cx="4256462" cy="1612816"/>
          </a:xfrm>
          <a:prstGeom prst="rect">
            <a:avLst/>
          </a:prstGeom>
        </p:spPr>
        <p:txBody>
          <a:bodyPr vert="horz" lIns="91435" tIns="45717" rIns="91435" bIns="45717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000" b="1" kern="1200"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99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effectLst/>
                <a:uLnTx/>
                <a:uFillTx/>
                <a:latin typeface="Arial Black" panose="020B0A04020102020204" pitchFamily="34" charset="0"/>
                <a:ea typeface="微软雅黑" panose="020B0503020204020204" charset="-122"/>
                <a:cs typeface="+mn-cs"/>
              </a:rPr>
              <a:t>03</a:t>
            </a:r>
            <a:endParaRPr kumimoji="0" lang="zh-CN" altLang="en-US" sz="19900" b="1" i="0" u="none" strike="noStrike" kern="1200" cap="none" spc="0" normalizeH="0" baseline="0" noProof="0" dirty="0">
              <a:ln>
                <a:noFill/>
              </a:ln>
              <a:gradFill>
                <a:gsLst>
                  <a:gs pos="36000">
                    <a:srgbClr val="024282"/>
                  </a:gs>
                  <a:gs pos="100000">
                    <a:srgbClr val="2764A7">
                      <a:lumMod val="15000"/>
                      <a:lumOff val="85000"/>
                      <a:alpha val="27000"/>
                    </a:srgbClr>
                  </a:gs>
                </a:gsLst>
                <a:lin ang="5400000" scaled="0"/>
              </a:gradFill>
              <a:effectLst/>
              <a:uLnTx/>
              <a:uFillTx/>
              <a:latin typeface="Arial Black" panose="020B0A040201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3" name="文本占位符 4"/>
          <p:cNvSpPr txBox="1"/>
          <p:nvPr/>
        </p:nvSpPr>
        <p:spPr>
          <a:xfrm>
            <a:off x="1852975" y="3246907"/>
            <a:ext cx="7302442" cy="660366"/>
          </a:xfrm>
          <a:prstGeom prst="rect">
            <a:avLst/>
          </a:prstGeom>
        </p:spPr>
        <p:txBody>
          <a:bodyPr vert="horz" lIns="91435" tIns="45717" rIns="91435" bIns="45717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b="1" kern="120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6600" noProof="0" dirty="0">
                <a:ln>
                  <a:noFill/>
                </a:ln>
                <a:effectLst/>
                <a:uLnTx/>
                <a:uFillTx/>
                <a:sym typeface="+mn-ea"/>
              </a:rPr>
              <a:t>拟研究的方案</a:t>
            </a:r>
            <a:endParaRPr kumimoji="0" lang="zh-CN" altLang="en-US" sz="66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-3049397" y="-2033529"/>
            <a:ext cx="7488982" cy="4794907"/>
            <a:chOff x="-3802743" y="-2148114"/>
            <a:chExt cx="7489372" cy="4795157"/>
          </a:xfrm>
        </p:grpSpPr>
        <p:sp>
          <p:nvSpPr>
            <p:cNvPr id="5" name="平行四边形 4"/>
            <p:cNvSpPr/>
            <p:nvPr/>
          </p:nvSpPr>
          <p:spPr>
            <a:xfrm>
              <a:off x="-3802743" y="-2148114"/>
              <a:ext cx="7489372" cy="4795157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 flipH="1" flipV="1">
            <a:off x="7823784" y="4149042"/>
            <a:ext cx="7488982" cy="4650899"/>
            <a:chOff x="-3802743" y="-2004098"/>
            <a:chExt cx="7489372" cy="4651141"/>
          </a:xfrm>
        </p:grpSpPr>
        <p:sp>
          <p:nvSpPr>
            <p:cNvPr id="8" name="平行四边形 7"/>
            <p:cNvSpPr/>
            <p:nvPr/>
          </p:nvSpPr>
          <p:spPr>
            <a:xfrm>
              <a:off x="-3802743" y="-2004098"/>
              <a:ext cx="7489372" cy="4651141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平行四边形 8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6" name="直接连接符 15"/>
          <p:cNvCxnSpPr/>
          <p:nvPr/>
        </p:nvCxnSpPr>
        <p:spPr>
          <a:xfrm>
            <a:off x="2155999" y="4293051"/>
            <a:ext cx="6696395" cy="0"/>
          </a:xfrm>
          <a:prstGeom prst="line">
            <a:avLst/>
          </a:prstGeom>
          <a:ln w="285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0115" y="6274109"/>
            <a:ext cx="2583792" cy="412837"/>
          </a:xfrm>
          <a:prstGeom prst="rect">
            <a:avLst/>
          </a:prstGeom>
        </p:spPr>
      </p:pic>
      <p:grpSp>
        <p:nvGrpSpPr>
          <p:cNvPr id="23" name="组合 22"/>
          <p:cNvGrpSpPr/>
          <p:nvPr/>
        </p:nvGrpSpPr>
        <p:grpSpPr>
          <a:xfrm>
            <a:off x="9114290" y="102906"/>
            <a:ext cx="2879158" cy="743434"/>
            <a:chOff x="825667" y="458497"/>
            <a:chExt cx="4856203" cy="1253932"/>
          </a:xfrm>
        </p:grpSpPr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825667" y="458497"/>
              <a:ext cx="1253932" cy="1253932"/>
            </a:xfrm>
            <a:prstGeom prst="rect">
              <a:avLst/>
            </a:prstGeom>
          </p:spPr>
        </p:pic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26" name="矩形 25"/>
            <p:cNvSpPr/>
            <p:nvPr/>
          </p:nvSpPr>
          <p:spPr>
            <a:xfrm>
              <a:off x="2085463" y="1172848"/>
              <a:ext cx="3596407" cy="36094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BEIHANG UNIVERSITY</a:t>
              </a:r>
              <a:endPara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14:gallery dir="l"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1A5676"/>
                </a:solidFill>
              </a:defRPr>
            </a:pPr>
            <a:r>
              <a:t>拟采用方案总体架构</a:t>
            </a:r>
          </a:p>
        </p:txBody>
      </p:sp>
      <p:pic>
        <p:nvPicPr>
          <p:cNvPr id="3" name="Picture 2" descr="fig11_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11430000" cy="622702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YOLOv11 + GhostNet + CA + BiFPN + EIoU/DFL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数据增强: Mosaic+MixUp+CopyPaste+分辨率渐进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推理优化: SAHI切片 (640×640, overlap=0.2)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</a:defRPr>
            </a:pPr>
            <a:r>
              <a:t>预期: mAP&gt;90% | &lt;10MB | &gt;60FPS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7492" y="140921"/>
            <a:ext cx="7019563" cy="7019563"/>
          </a:xfrm>
          <a:prstGeom prst="rect">
            <a:avLst/>
          </a:prstGeom>
        </p:spPr>
      </p:pic>
      <p:sp>
        <p:nvSpPr>
          <p:cNvPr id="2" name="文本占位符 3"/>
          <p:cNvSpPr txBox="1"/>
          <p:nvPr/>
        </p:nvSpPr>
        <p:spPr>
          <a:xfrm>
            <a:off x="6435744" y="779345"/>
            <a:ext cx="4256462" cy="1612816"/>
          </a:xfrm>
          <a:prstGeom prst="rect">
            <a:avLst/>
          </a:prstGeom>
        </p:spPr>
        <p:txBody>
          <a:bodyPr vert="horz" lIns="91435" tIns="45717" rIns="91435" bIns="45717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000" b="1" kern="1200"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99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effectLst/>
                <a:uLnTx/>
                <a:uFillTx/>
                <a:latin typeface="Arial Black" panose="020B0A04020102020204" pitchFamily="34" charset="0"/>
                <a:ea typeface="微软雅黑" panose="020B0503020204020204" charset="-122"/>
                <a:cs typeface="+mn-cs"/>
              </a:rPr>
              <a:t>04</a:t>
            </a:r>
            <a:endParaRPr kumimoji="0" lang="zh-CN" altLang="en-US" sz="19900" b="1" i="0" u="none" strike="noStrike" kern="1200" cap="none" spc="0" normalizeH="0" baseline="0" noProof="0" dirty="0">
              <a:ln>
                <a:noFill/>
              </a:ln>
              <a:gradFill>
                <a:gsLst>
                  <a:gs pos="36000">
                    <a:srgbClr val="024282"/>
                  </a:gs>
                  <a:gs pos="100000">
                    <a:srgbClr val="2764A7">
                      <a:lumMod val="15000"/>
                      <a:lumOff val="85000"/>
                      <a:alpha val="27000"/>
                    </a:srgbClr>
                  </a:gs>
                </a:gsLst>
                <a:lin ang="5400000" scaled="0"/>
              </a:gradFill>
              <a:effectLst/>
              <a:uLnTx/>
              <a:uFillTx/>
              <a:latin typeface="Arial Black" panose="020B0A040201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3" name="文本占位符 4"/>
          <p:cNvSpPr txBox="1"/>
          <p:nvPr/>
        </p:nvSpPr>
        <p:spPr>
          <a:xfrm>
            <a:off x="1852975" y="3246907"/>
            <a:ext cx="7302442" cy="660366"/>
          </a:xfrm>
          <a:prstGeom prst="rect">
            <a:avLst/>
          </a:prstGeom>
        </p:spPr>
        <p:txBody>
          <a:bodyPr vert="horz" lIns="91435" tIns="45717" rIns="91435" bIns="45717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b="1" kern="120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总结</a:t>
            </a:r>
            <a:endParaRPr kumimoji="0" lang="zh-CN" altLang="en-US" sz="66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-3049397" y="-2033529"/>
            <a:ext cx="7488982" cy="4794907"/>
            <a:chOff x="-3802743" y="-2148114"/>
            <a:chExt cx="7489372" cy="4795157"/>
          </a:xfrm>
        </p:grpSpPr>
        <p:sp>
          <p:nvSpPr>
            <p:cNvPr id="5" name="平行四边形 4"/>
            <p:cNvSpPr/>
            <p:nvPr/>
          </p:nvSpPr>
          <p:spPr>
            <a:xfrm>
              <a:off x="-3802743" y="-2148114"/>
              <a:ext cx="7489372" cy="4795157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 flipH="1" flipV="1">
            <a:off x="7823784" y="4149042"/>
            <a:ext cx="7488982" cy="4650899"/>
            <a:chOff x="-3802743" y="-2004098"/>
            <a:chExt cx="7489372" cy="4651141"/>
          </a:xfrm>
        </p:grpSpPr>
        <p:sp>
          <p:nvSpPr>
            <p:cNvPr id="8" name="平行四边形 7"/>
            <p:cNvSpPr/>
            <p:nvPr/>
          </p:nvSpPr>
          <p:spPr>
            <a:xfrm>
              <a:off x="-3802743" y="-2004098"/>
              <a:ext cx="7489372" cy="4651141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平行四边形 8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6" name="直接连接符 15"/>
          <p:cNvCxnSpPr/>
          <p:nvPr/>
        </p:nvCxnSpPr>
        <p:spPr>
          <a:xfrm>
            <a:off x="2155999" y="4293051"/>
            <a:ext cx="6696395" cy="0"/>
          </a:xfrm>
          <a:prstGeom prst="line">
            <a:avLst/>
          </a:prstGeom>
          <a:ln w="285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0115" y="6274109"/>
            <a:ext cx="2583792" cy="412837"/>
          </a:xfrm>
          <a:prstGeom prst="rect">
            <a:avLst/>
          </a:prstGeom>
        </p:spPr>
      </p:pic>
      <p:grpSp>
        <p:nvGrpSpPr>
          <p:cNvPr id="23" name="组合 22"/>
          <p:cNvGrpSpPr/>
          <p:nvPr/>
        </p:nvGrpSpPr>
        <p:grpSpPr>
          <a:xfrm>
            <a:off x="9114290" y="102906"/>
            <a:ext cx="2879158" cy="743434"/>
            <a:chOff x="825667" y="458497"/>
            <a:chExt cx="4856203" cy="1253932"/>
          </a:xfrm>
        </p:grpSpPr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825667" y="458497"/>
              <a:ext cx="1253932" cy="1253932"/>
            </a:xfrm>
            <a:prstGeom prst="rect">
              <a:avLst/>
            </a:prstGeom>
          </p:spPr>
        </p:pic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26" name="矩形 25"/>
            <p:cNvSpPr/>
            <p:nvPr/>
          </p:nvSpPr>
          <p:spPr>
            <a:xfrm>
              <a:off x="2085463" y="1172848"/>
              <a:ext cx="3596407" cy="36094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BEIHANG UNIVERSITY</a:t>
              </a:r>
              <a:endPara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14:gallery dir="l"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10185" y="937260"/>
            <a:ext cx="11708130" cy="2679065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rPr sz="2400" b="1">
                <a:solidFill>
                  <a:schemeClr val="tx1"/>
                </a:solidFill>
                <a:sym typeface="+mn-ea"/>
              </a:rPr>
              <a:t>1. 精读3篇核心论文: GCB-YOLO / WTBD-YOLOv8 / LE-YOLO</a:t>
            </a:r>
            <a:endParaRPr sz="2400" b="1">
              <a:solidFill>
                <a:schemeClr val="tx1"/>
              </a:solidFill>
              <a:sym typeface="+mn-ea"/>
            </a:endParaRP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rPr sz="2400" b="1">
                <a:solidFill>
                  <a:schemeClr val="tx1"/>
                </a:solidFill>
                <a:sym typeface="+mn-ea"/>
              </a:rPr>
              <a:t>2. 归纳三条路线: 轻量化 → 注意力 → 特征融合</a:t>
            </a:r>
            <a:endParaRPr sz="2400" b="1">
              <a:solidFill>
                <a:schemeClr val="tx1"/>
              </a:solidFill>
              <a:sym typeface="+mn-ea"/>
            </a:endParaRP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rPr sz="2400" b="1">
                <a:solidFill>
                  <a:schemeClr val="tx1"/>
                </a:solidFill>
                <a:sym typeface="+mn-ea"/>
              </a:rPr>
              <a:t>3. 跨领域对比: 风电+桥梁双领域分析</a:t>
            </a:r>
            <a:endParaRPr sz="2400" b="1">
              <a:solidFill>
                <a:schemeClr val="tx1"/>
              </a:solidFill>
              <a:sym typeface="+mn-ea"/>
            </a:endParaRP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rPr sz="2400" b="1">
                <a:solidFill>
                  <a:schemeClr val="tx1"/>
                </a:solidFill>
                <a:sym typeface="+mn-ea"/>
              </a:rPr>
              <a:t>4. 关键发现: GhostNet参数-38%, CA优于CBAM, BiFPN小目标+4.8%</a:t>
            </a:r>
            <a:endParaRPr sz="2400" b="1">
              <a:solidFill>
                <a:schemeClr val="tx1"/>
              </a:solidFill>
              <a:sym typeface="+mn-ea"/>
            </a:endParaRP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rPr sz="2400" b="1">
                <a:solidFill>
                  <a:schemeClr val="tx1"/>
                </a:solidFill>
                <a:sym typeface="+mn-ea"/>
              </a:rPr>
              <a:t>5. 方案: YOLOv11 + GhostNet + CA + BiFPN + EIoU/DFL + SAHI</a:t>
            </a:r>
            <a:endParaRPr sz="2400" b="1">
              <a:solidFill>
                <a:schemeClr val="tx1"/>
              </a:solidFill>
              <a:sym typeface="+mn-ea"/>
            </a:endParaRPr>
          </a:p>
          <a:p>
            <a:pPr>
              <a:spcAft>
                <a:spcPts val="400"/>
              </a:spcAft>
              <a:defRPr sz="1600">
                <a:solidFill>
                  <a:srgbClr val="FFFFFF"/>
                </a:solidFill>
              </a:defRPr>
            </a:pPr>
            <a:r>
              <a:rPr sz="2400" b="1">
                <a:solidFill>
                  <a:schemeClr val="tx1"/>
                </a:solidFill>
                <a:sym typeface="+mn-ea"/>
              </a:rPr>
              <a:t>6. 预期: mAP&gt;90%, &lt;10MB, &gt;60FPS</a:t>
            </a:r>
            <a:endParaRPr lang="en-US" altLang="zh-CN" sz="2400" b="1">
              <a:solidFill>
                <a:schemeClr val="tx1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35344" y="116806"/>
            <a:ext cx="629839" cy="612736"/>
            <a:chOff x="3070727" y="196457"/>
            <a:chExt cx="692047" cy="673255"/>
          </a:xfrm>
        </p:grpSpPr>
        <p:sp>
          <p:nvSpPr>
            <p:cNvPr id="6" name="平行四边形 5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平行四边形 6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8" name="直接连接符 7"/>
          <p:cNvCxnSpPr/>
          <p:nvPr/>
        </p:nvCxnSpPr>
        <p:spPr>
          <a:xfrm>
            <a:off x="367821" y="809810"/>
            <a:ext cx="11488202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701" y="193844"/>
            <a:ext cx="6125526" cy="612743"/>
          </a:xfrm>
          <a:prstGeom prst="rect">
            <a:avLst/>
          </a:prstGeom>
        </p:spPr>
        <p:txBody>
          <a:bodyPr vert="horz" lIns="91435" tIns="45717" rIns="91435" bIns="45717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参考文献与总结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9153728" y="116806"/>
            <a:ext cx="2764774" cy="612744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094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BEIHANG UNIVERSITY</a:t>
              </a:r>
              <a:endPara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259080" y="3616325"/>
            <a:ext cx="10447020" cy="31146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spcAft>
                <a:spcPts val="400"/>
              </a:spcAft>
              <a:defRPr sz="1100">
                <a:solidFill>
                  <a:srgbClr val="90CAF9"/>
                </a:solidFill>
              </a:defRPr>
            </a:pPr>
            <a:r>
              <a:rPr sz="2000" b="1">
                <a:solidFill>
                  <a:schemeClr val="tx1"/>
                </a:solidFill>
                <a:sym typeface="+mn-ea"/>
              </a:rPr>
              <a:t>参考文献</a:t>
            </a:r>
            <a:endParaRPr sz="2000" b="1">
              <a:solidFill>
                <a:schemeClr val="tx1"/>
              </a:solidFill>
              <a:sym typeface="+mn-ea"/>
            </a:endParaRPr>
          </a:p>
          <a:p>
            <a:pPr>
              <a:spcAft>
                <a:spcPts val="400"/>
              </a:spcAft>
              <a:defRPr sz="1100">
                <a:solidFill>
                  <a:srgbClr val="90CAF9"/>
                </a:solidFill>
              </a:defRPr>
            </a:pPr>
            <a:r>
              <a:rPr sz="2000" b="1">
                <a:solidFill>
                  <a:schemeClr val="tx1"/>
                </a:solidFill>
                <a:sym typeface="+mn-ea"/>
              </a:rPr>
              <a:t>[1] Zhang et al., GCB-YOLO, Wind Energy 2025</a:t>
            </a:r>
            <a:endParaRPr sz="2000" b="1">
              <a:solidFill>
                <a:schemeClr val="tx1"/>
              </a:solidFill>
              <a:sym typeface="+mn-ea"/>
            </a:endParaRPr>
          </a:p>
          <a:p>
            <a:pPr>
              <a:spcAft>
                <a:spcPts val="400"/>
              </a:spcAft>
              <a:defRPr sz="1100">
                <a:solidFill>
                  <a:srgbClr val="90CAF9"/>
                </a:solidFill>
              </a:defRPr>
            </a:pPr>
            <a:r>
              <a:rPr sz="2000" b="1">
                <a:solidFill>
                  <a:schemeClr val="tx1"/>
                </a:solidFill>
                <a:sym typeface="+mn-ea"/>
              </a:rPr>
              <a:t>[2] Tong et al., WTBD-YOLOv8, Sustainability 2024</a:t>
            </a:r>
            <a:endParaRPr sz="2000" b="1">
              <a:solidFill>
                <a:schemeClr val="tx1"/>
              </a:solidFill>
              <a:sym typeface="+mn-ea"/>
            </a:endParaRPr>
          </a:p>
          <a:p>
            <a:pPr>
              <a:spcAft>
                <a:spcPts val="400"/>
              </a:spcAft>
              <a:defRPr sz="1100">
                <a:solidFill>
                  <a:srgbClr val="90CAF9"/>
                </a:solidFill>
              </a:defRPr>
            </a:pPr>
            <a:r>
              <a:rPr sz="2000" b="1">
                <a:solidFill>
                  <a:schemeClr val="tx1"/>
                </a:solidFill>
                <a:sym typeface="+mn-ea"/>
              </a:rPr>
              <a:t>[3] Fu et al., LE-YOLO, IEEE Access 2024</a:t>
            </a:r>
            <a:endParaRPr sz="2000" b="1">
              <a:solidFill>
                <a:schemeClr val="tx1"/>
              </a:solidFill>
              <a:sym typeface="+mn-ea"/>
            </a:endParaRPr>
          </a:p>
          <a:p>
            <a:pPr>
              <a:spcAft>
                <a:spcPts val="400"/>
              </a:spcAft>
              <a:defRPr sz="1100">
                <a:solidFill>
                  <a:srgbClr val="90CAF9"/>
                </a:solidFill>
              </a:defRPr>
            </a:pPr>
            <a:r>
              <a:rPr sz="2000" b="1">
                <a:solidFill>
                  <a:schemeClr val="tx1"/>
                </a:solidFill>
                <a:sym typeface="+mn-ea"/>
              </a:rPr>
              <a:t>[4] Hou et al., Coordinate Attention, ICCV 2021</a:t>
            </a:r>
            <a:endParaRPr sz="2000" b="1">
              <a:solidFill>
                <a:schemeClr val="tx1"/>
              </a:solidFill>
              <a:sym typeface="+mn-ea"/>
            </a:endParaRPr>
          </a:p>
          <a:p>
            <a:pPr>
              <a:spcAft>
                <a:spcPts val="400"/>
              </a:spcAft>
              <a:defRPr sz="1100">
                <a:solidFill>
                  <a:srgbClr val="90CAF9"/>
                </a:solidFill>
              </a:defRPr>
            </a:pPr>
            <a:r>
              <a:rPr sz="2000" b="1">
                <a:solidFill>
                  <a:schemeClr val="tx1"/>
                </a:solidFill>
                <a:sym typeface="+mn-ea"/>
              </a:rPr>
              <a:t>[5] Han et al., GhostNet, CVPR 2020</a:t>
            </a:r>
            <a:endParaRPr sz="2000" b="1">
              <a:solidFill>
                <a:schemeClr val="tx1"/>
              </a:solidFill>
              <a:sym typeface="+mn-ea"/>
            </a:endParaRPr>
          </a:p>
          <a:p>
            <a:pPr>
              <a:spcAft>
                <a:spcPts val="400"/>
              </a:spcAft>
              <a:defRPr sz="1100">
                <a:solidFill>
                  <a:srgbClr val="90CAF9"/>
                </a:solidFill>
              </a:defRPr>
            </a:pPr>
            <a:r>
              <a:rPr sz="2000" b="1">
                <a:solidFill>
                  <a:schemeClr val="tx1"/>
                </a:solidFill>
                <a:sym typeface="+mn-ea"/>
              </a:rPr>
              <a:t>[6] Ultralytics, YOLOv11, GitHub 2024</a:t>
            </a:r>
            <a:endParaRPr sz="2000" b="1">
              <a:solidFill>
                <a:schemeClr val="tx1"/>
              </a:solidFill>
              <a:sym typeface="+mn-ea"/>
            </a:endParaRPr>
          </a:p>
          <a:p>
            <a:pPr>
              <a:spcAft>
                <a:spcPts val="400"/>
              </a:spcAft>
              <a:defRPr sz="1100">
                <a:solidFill>
                  <a:srgbClr val="90CAF9"/>
                </a:solidFill>
              </a:defRPr>
            </a:pPr>
            <a:r>
              <a:rPr sz="2000" b="1">
                <a:solidFill>
                  <a:schemeClr val="tx1"/>
                </a:solidFill>
                <a:sym typeface="+mn-ea"/>
              </a:rPr>
              <a:t>[7] Memari et al., YOLO for Wind Turbine: A Review, RSER 2024</a:t>
            </a:r>
            <a:endParaRPr sz="2000" b="1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14:gallery dir="l"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64708" y="1350421"/>
            <a:ext cx="6117209" cy="6117209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1335" y="116804"/>
            <a:ext cx="11808693" cy="522651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91335" y="116804"/>
            <a:ext cx="11808694" cy="5226510"/>
          </a:xfrm>
          <a:prstGeom prst="rect">
            <a:avLst/>
          </a:prstGeom>
          <a:solidFill>
            <a:srgbClr val="024282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平行四边形 9"/>
          <p:cNvSpPr/>
          <p:nvPr/>
        </p:nvSpPr>
        <p:spPr>
          <a:xfrm>
            <a:off x="4949269" y="5155777"/>
            <a:ext cx="2292827" cy="383807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平行四边形 10"/>
          <p:cNvSpPr/>
          <p:nvPr/>
        </p:nvSpPr>
        <p:spPr>
          <a:xfrm>
            <a:off x="2567171" y="5935214"/>
            <a:ext cx="3197058" cy="487020"/>
          </a:xfrm>
          <a:prstGeom prst="parallelogram">
            <a:avLst/>
          </a:prstGeom>
          <a:solidFill>
            <a:srgbClr val="0242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平行四边形 11"/>
          <p:cNvSpPr/>
          <p:nvPr/>
        </p:nvSpPr>
        <p:spPr>
          <a:xfrm>
            <a:off x="6427413" y="5935079"/>
            <a:ext cx="2764454" cy="487214"/>
          </a:xfrm>
          <a:prstGeom prst="parallelogram">
            <a:avLst/>
          </a:prstGeom>
          <a:solidFill>
            <a:srgbClr val="0242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文本占位符 30"/>
          <p:cNvSpPr txBox="1"/>
          <p:nvPr/>
        </p:nvSpPr>
        <p:spPr>
          <a:xfrm>
            <a:off x="2765281" y="6033634"/>
            <a:ext cx="2965931" cy="296530"/>
          </a:xfrm>
          <a:prstGeom prst="rect">
            <a:avLst/>
          </a:prstGeom>
        </p:spPr>
        <p:txBody>
          <a:bodyPr vert="horz" lIns="91435" tIns="45717" rIns="91435" bIns="45717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汇报人：齐晓阳、刘佳怡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6" name="文本占位符 31"/>
          <p:cNvSpPr txBox="1"/>
          <p:nvPr/>
        </p:nvSpPr>
        <p:spPr>
          <a:xfrm>
            <a:off x="6459882" y="6033726"/>
            <a:ext cx="2609714" cy="296530"/>
          </a:xfrm>
          <a:prstGeom prst="rect">
            <a:avLst/>
          </a:prstGeom>
        </p:spPr>
        <p:txBody>
          <a:bodyPr vert="horz" lIns="91435" tIns="45717" rIns="91435" bIns="45717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指导学姐：郜雅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3879773" y="1131594"/>
            <a:ext cx="4918669" cy="1253867"/>
            <a:chOff x="751446" y="486412"/>
            <a:chExt cx="4918925" cy="1253932"/>
          </a:xfrm>
        </p:grpSpPr>
        <p:pic>
          <p:nvPicPr>
            <p:cNvPr id="21" name="图片 20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751446" y="486412"/>
              <a:ext cx="1253932" cy="1253932"/>
            </a:xfrm>
            <a:prstGeom prst="rect">
              <a:avLst/>
            </a:prstGeom>
          </p:spPr>
        </p:pic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960350" y="609785"/>
              <a:ext cx="3710021" cy="607920"/>
            </a:xfrm>
            <a:prstGeom prst="rect">
              <a:avLst/>
            </a:prstGeom>
          </p:spPr>
        </p:pic>
        <p:sp>
          <p:nvSpPr>
            <p:cNvPr id="23" name="矩形 22"/>
            <p:cNvSpPr/>
            <p:nvPr/>
          </p:nvSpPr>
          <p:spPr>
            <a:xfrm>
              <a:off x="2167394" y="1226892"/>
              <a:ext cx="3502977" cy="3067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BEIHANG UNIVERSITY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8" name="文本占位符 24"/>
          <p:cNvSpPr txBox="1"/>
          <p:nvPr/>
        </p:nvSpPr>
        <p:spPr>
          <a:xfrm>
            <a:off x="191337" y="2324378"/>
            <a:ext cx="11808693" cy="1415534"/>
          </a:xfrm>
          <a:prstGeom prst="rect">
            <a:avLst/>
          </a:prstGeom>
        </p:spPr>
        <p:txBody>
          <a:bodyPr vert="horz" lIns="91435" tIns="45717" rIns="91435" bIns="45717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72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  汇报结束  感谢聆听</a:t>
            </a:r>
            <a:r>
              <a:rPr kumimoji="0" lang="zh-CN" altLang="en-US" sz="7200" b="1" i="1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！</a:t>
            </a:r>
            <a:endParaRPr kumimoji="0" lang="zh-CN" altLang="en-US" sz="7200" b="1" i="1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2567474" y="3888414"/>
            <a:ext cx="691240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图片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39551" y="4040744"/>
            <a:ext cx="8112262" cy="7343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14:gallery dir="l"/>
      </p:transition>
    </mc:Choice>
    <mc:Fallback>
      <p:transition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407.94559055118106,&quot;left&quot;:429.1567716535433,&quot;top&quot;:76.23566929133858,&quot;width&quot;:476.5432283464567}"/>
</p:tagLst>
</file>

<file path=ppt/tags/tag2.xml><?xml version="1.0" encoding="utf-8"?>
<p:tagLst xmlns:p="http://schemas.openxmlformats.org/presentationml/2006/main">
  <p:tag name="KSO_WM_DIAGRAM_VIRTUALLY_FRAME" val="{&quot;height&quot;:407.94559055118106,&quot;left&quot;:429.1567716535433,&quot;top&quot;:76.23566929133858,&quot;width&quot;:476.5432283464567}"/>
</p:tagLst>
</file>

<file path=ppt/tags/tag3.xml><?xml version="1.0" encoding="utf-8"?>
<p:tagLst xmlns:p="http://schemas.openxmlformats.org/presentationml/2006/main">
  <p:tag name="KSO_WM_DIAGRAM_VIRTUALLY_FRAME" val="{&quot;height&quot;:407.94559055118106,&quot;left&quot;:429.1567716535433,&quot;top&quot;:76.23566929133858,&quot;width&quot;:476.5432283464567}"/>
</p:tagLst>
</file>

<file path=ppt/tags/tag4.xml><?xml version="1.0" encoding="utf-8"?>
<p:tagLst xmlns:p="http://schemas.openxmlformats.org/presentationml/2006/main">
  <p:tag name="KSO_WM_DIAGRAM_VIRTUALLY_FRAME" val="{&quot;height&quot;:407.94559055118106,&quot;left&quot;:429.1567716535433,&quot;top&quot;:76.23566929133858,&quot;width&quot;:476.5432283464567}"/>
</p:tagLst>
</file>

<file path=ppt/tags/tag5.xml><?xml version="1.0" encoding="utf-8"?>
<p:tagLst xmlns:p="http://schemas.openxmlformats.org/presentationml/2006/main">
  <p:tag name="KSO_WM_DIAGRAM_VIRTUALLY_FRAME" val="{&quot;height&quot;:407.94559055118106,&quot;left&quot;:429.1567716535433,&quot;top&quot;:76.23566929133858,&quot;width&quot;:476.5432283464567}"/>
</p:tagLst>
</file>

<file path=ppt/tags/tag6.xml><?xml version="1.0" encoding="utf-8"?>
<p:tagLst xmlns:p="http://schemas.openxmlformats.org/presentationml/2006/main">
  <p:tag name="KSO_WM_DIAGRAM_VIRTUALLY_FRAME" val="{&quot;height&quot;:407.94559055118106,&quot;left&quot;:429.1567716535433,&quot;top&quot;:76.23566929133858,&quot;width&quot;:476.5432283464567}"/>
</p:tagLst>
</file>

<file path=ppt/tags/tag7.xml><?xml version="1.0" encoding="utf-8"?>
<p:tagLst xmlns:p="http://schemas.openxmlformats.org/presentationml/2006/main">
  <p:tag name="KSO_WM_DIAGRAM_VIRTUALLY_FRAME" val="{&quot;height&quot;:407.94559055118106,&quot;left&quot;:429.1567716535433,&quot;top&quot;:76.23566929133858,&quot;width&quot;:476.5432283464567}"/>
</p:tagLst>
</file>

<file path=ppt/tags/tag8.xml><?xml version="1.0" encoding="utf-8"?>
<p:tagLst xmlns:p="http://schemas.openxmlformats.org/presentationml/2006/main">
  <p:tag name="KSO_WM_DIAGRAM_VIRTUALLY_FRAME" val="{&quot;height&quot;:407.94559055118106,&quot;left&quot;:429.1567716535433,&quot;top&quot;:76.23566929133858,&quot;width&quot;:476.5432283464567}"/>
</p:tagLst>
</file>

<file path=ppt/tags/tag9.xml><?xml version="1.0" encoding="utf-8"?>
<p:tagLst xmlns:p="http://schemas.openxmlformats.org/presentationml/2006/main">
  <p:tag name="KSO_WM_DIAGRAM_VIRTUALLY_FRAME" val="{&quot;height&quot;:407.94559055118106,&quot;left&quot;:429.1567716535433,&quot;top&quot;:76.23566929133858,&quot;width&quot;:476.5432283464567}"/>
</p:tagLst>
</file>

<file path=ppt/tags/tag10.xml><?xml version="1.0" encoding="utf-8"?>
<p:tagLst xmlns:p="http://schemas.openxmlformats.org/presentationml/2006/main">
  <p:tag name="KSO_WM_DIAGRAM_VIRTUALLY_FRAME" val="{&quot;height&quot;:407.94559055118106,&quot;left&quot;:429.1567716535433,&quot;top&quot;:76.23566929133858,&quot;width&quot;:476.5432283464567}"/>
</p:tagLst>
</file>

<file path=ppt/tags/tag11.xml><?xml version="1.0" encoding="utf-8"?>
<p:tagLst xmlns:p="http://schemas.openxmlformats.org/presentationml/2006/main">
  <p:tag name="KSO_WM_DIAGRAM_VIRTUALLY_FRAME" val="{&quot;height&quot;:407.94559055118106,&quot;left&quot;:429.1567716535433,&quot;top&quot;:76.23566929133858,&quot;width&quot;:476.5432283464567}"/>
</p:tagLst>
</file>

<file path=ppt/tags/tag12.xml><?xml version="1.0" encoding="utf-8"?>
<p:tagLst xmlns:p="http://schemas.openxmlformats.org/presentationml/2006/main">
  <p:tag name="KSO_WM_DIAGRAM_VIRTUALLY_FRAME" val="{&quot;height&quot;:407.94559055118106,&quot;left&quot;:429.1567716535433,&quot;top&quot;:76.23566929133858,&quot;width&quot;:476.5432283464567}"/>
</p:tagLst>
</file>

<file path=ppt/tags/tag13.xml><?xml version="1.0" encoding="utf-8"?>
<p:tagLst xmlns:p="http://schemas.openxmlformats.org/presentationml/2006/main">
  <p:tag name="KSO_WM_DIAGRAM_VIRTUALLY_FRAME" val="{&quot;height&quot;:407.94559055118106,&quot;left&quot;:429.1567716535433,&quot;top&quot;:76.23566929133858,&quot;width&quot;:476.5432283464567}"/>
</p:tagLst>
</file>

<file path=ppt/tags/tag14.xml><?xml version="1.0" encoding="utf-8"?>
<p:tagLst xmlns:p="http://schemas.openxmlformats.org/presentationml/2006/main">
  <p:tag name="KSO_WM_DIAGRAM_VIRTUALLY_FRAME" val="{&quot;height&quot;:407.94559055118106,&quot;left&quot;:429.1567716535433,&quot;top&quot;:76.23566929133858,&quot;width&quot;:476.5432283464567}"/>
</p:tagLst>
</file>

<file path=ppt/tags/tag15.xml><?xml version="1.0" encoding="utf-8"?>
<p:tagLst xmlns:p="http://schemas.openxmlformats.org/presentationml/2006/main">
  <p:tag name="KSO_WM_DIAGRAM_VIRTUALLY_FRAME" val="{&quot;height&quot;:407.94559055118106,&quot;left&quot;:429.1567716535433,&quot;top&quot;:76.23566929133858,&quot;width&quot;:476.5432283464567}"/>
</p:tagLst>
</file>

<file path=ppt/tags/tag16.xml><?xml version="1.0" encoding="utf-8"?>
<p:tagLst xmlns:p="http://schemas.openxmlformats.org/presentationml/2006/main">
  <p:tag name="KSO_WM_DIAGRAM_VIRTUALLY_FRAME" val="{&quot;height&quot;:407.94559055118106,&quot;left&quot;:429.1567716535433,&quot;top&quot;:76.23566929133858,&quot;width&quot;:476.5432283464567}"/>
</p:tagLst>
</file>

<file path=ppt/tags/tag17.xml><?xml version="1.0" encoding="utf-8"?>
<p:tagLst xmlns:p="http://schemas.openxmlformats.org/presentationml/2006/main">
  <p:tag name="KSO_WM_DIAGRAM_VIRTUALLY_FRAME" val="{&quot;height&quot;:405.39031496062995,&quot;left&quot;:60.34110903871391,&quot;top&quot;:118.45834645669288,&quot;width&quot;:840.2703082841208}"/>
</p:tagLst>
</file>

<file path=ppt/tags/tag18.xml><?xml version="1.0" encoding="utf-8"?>
<p:tagLst xmlns:p="http://schemas.openxmlformats.org/presentationml/2006/main">
  <p:tag name="KSO_WM_DIAGRAM_VIRTUALLY_FRAME" val="{&quot;height&quot;:405.39031496062995,&quot;left&quot;:60.34110903871391,&quot;top&quot;:118.45834645669288,&quot;width&quot;:840.2703082841208}"/>
</p:tagLst>
</file>

<file path=ppt/tags/tag19.xml><?xml version="1.0" encoding="utf-8"?>
<p:tagLst xmlns:p="http://schemas.openxmlformats.org/presentationml/2006/main">
  <p:tag name="KSO_WM_DIAGRAM_VIRTUALLY_FRAME" val="{&quot;height&quot;:405.39031496062995,&quot;left&quot;:60.34110903871391,&quot;top&quot;:118.45834645669288,&quot;width&quot;:840.2703082841208}"/>
</p:tagLst>
</file>

<file path=ppt/tags/tag20.xml><?xml version="1.0" encoding="utf-8"?>
<p:tagLst xmlns:p="http://schemas.openxmlformats.org/presentationml/2006/main">
  <p:tag name="KSO_WM_DIAGRAM_VIRTUALLY_FRAME" val="{&quot;height&quot;:405.39031496062995,&quot;left&quot;:60.34110903871391,&quot;top&quot;:118.45834645669288,&quot;width&quot;:840.2703082841208}"/>
</p:tagLst>
</file>

<file path=ppt/tags/tag21.xml><?xml version="1.0" encoding="utf-8"?>
<p:tagLst xmlns:p="http://schemas.openxmlformats.org/presentationml/2006/main">
  <p:tag name="KSO_WM_DIAGRAM_VIRTUALLY_FRAME" val="{&quot;height&quot;:405.39031496062995,&quot;left&quot;:60.34110903871391,&quot;top&quot;:118.45834645669288,&quot;width&quot;:840.2703082841208}"/>
</p:tagLst>
</file>

<file path=ppt/tags/tag22.xml><?xml version="1.0" encoding="utf-8"?>
<p:tagLst xmlns:p="http://schemas.openxmlformats.org/presentationml/2006/main">
  <p:tag name="KSO_WM_DIAGRAM_VIRTUALLY_FRAME" val="{&quot;height&quot;:405.39031496062995,&quot;left&quot;:60.34110903871391,&quot;top&quot;:118.45834645669288,&quot;width&quot;:840.2703082841208}"/>
</p:tagLst>
</file>

<file path=ppt/tags/tag23.xml><?xml version="1.0" encoding="utf-8"?>
<p:tagLst xmlns:p="http://schemas.openxmlformats.org/presentationml/2006/main">
  <p:tag name="KSO_WM_DIAGRAM_VIRTUALLY_FRAME" val="{&quot;height&quot;:405.39031496062995,&quot;left&quot;:60.34110903871391,&quot;top&quot;:118.45834645669288,&quot;width&quot;:840.2703082841208}"/>
</p:tagLst>
</file>

<file path=ppt/tags/tag24.xml><?xml version="1.0" encoding="utf-8"?>
<p:tagLst xmlns:p="http://schemas.openxmlformats.org/presentationml/2006/main">
  <p:tag name="KSO_WM_DIAGRAM_VIRTUALLY_FRAME" val="{&quot;height&quot;:405.39031496062995,&quot;left&quot;:60.34110903871391,&quot;top&quot;:118.45834645669288,&quot;width&quot;:840.2703082841208}"/>
</p:tagLst>
</file>

<file path=ppt/tags/tag25.xml><?xml version="1.0" encoding="utf-8"?>
<p:tagLst xmlns:p="http://schemas.openxmlformats.org/presentationml/2006/main">
  <p:tag name="KSO_WM_DIAGRAM_VIRTUALLY_FRAME" val="{&quot;height&quot;:405.39031496062995,&quot;left&quot;:60.34110903871391,&quot;top&quot;:118.45834645669288,&quot;width&quot;:840.2703082841208}"/>
</p:tagLst>
</file>

<file path=ppt/tags/tag26.xml><?xml version="1.0" encoding="utf-8"?>
<p:tagLst xmlns:p="http://schemas.openxmlformats.org/presentationml/2006/main">
  <p:tag name="KSO_WM_DIAGRAM_VIRTUALLY_FRAME" val="{&quot;height&quot;:405.39031496062995,&quot;left&quot;:60.34110903871391,&quot;top&quot;:118.45834645669288,&quot;width&quot;:840.2703082841208}"/>
</p:tagLst>
</file>

<file path=ppt/tags/tag27.xml><?xml version="1.0" encoding="utf-8"?>
<p:tagLst xmlns:p="http://schemas.openxmlformats.org/presentationml/2006/main">
  <p:tag name="KSO_WM_DIAGRAM_VIRTUALLY_FRAME" val="{&quot;height&quot;:405.39031496062995,&quot;left&quot;:60.34110903871391,&quot;top&quot;:118.45834645669288,&quot;width&quot;:840.2703082841208}"/>
</p:tagLst>
</file>

<file path=ppt/tags/tag28.xml><?xml version="1.0" encoding="utf-8"?>
<p:tagLst xmlns:p="http://schemas.openxmlformats.org/presentationml/2006/main">
  <p:tag name="KSO_WM_DIAGRAM_VIRTUALLY_FRAME" val="{&quot;height&quot;:405.39031496062995,&quot;left&quot;:60.34110903871391,&quot;top&quot;:118.45834645669288,&quot;width&quot;:840.2703082841208}"/>
</p:tagLst>
</file>

<file path=ppt/tags/tag29.xml><?xml version="1.0" encoding="utf-8"?>
<p:tagLst xmlns:p="http://schemas.openxmlformats.org/presentationml/2006/main">
  <p:tag name="KSO_WM_DIAGRAM_VIRTUALLY_FRAME" val="{&quot;height&quot;:405.39031496062995,&quot;left&quot;:60.34110903871391,&quot;top&quot;:118.45834645669288,&quot;width&quot;:840.2703082841208}"/>
</p:tagLst>
</file>

<file path=ppt/tags/tag30.xml><?xml version="1.0" encoding="utf-8"?>
<p:tagLst xmlns:p="http://schemas.openxmlformats.org/presentationml/2006/main">
  <p:tag name="KSO_WM_DIAGRAM_VIRTUALLY_FRAME" val="{&quot;height&quot;:405.39031496062995,&quot;left&quot;:60.34110903871391,&quot;top&quot;:118.45834645669288,&quot;width&quot;:840.2703082841208}"/>
</p:tagLst>
</file>

<file path=ppt/tags/tag31.xml><?xml version="1.0" encoding="utf-8"?>
<p:tagLst xmlns:p="http://schemas.openxmlformats.org/presentationml/2006/main">
  <p:tag name="KSO_WM_DIAGRAM_VIRTUALLY_FRAME" val="{&quot;height&quot;:405.39031496062995,&quot;left&quot;:60.34110903871391,&quot;top&quot;:118.45834645669288,&quot;width&quot;:840.2703082841208}"/>
</p:tagLst>
</file>

<file path=ppt/tags/tag32.xml><?xml version="1.0" encoding="utf-8"?>
<p:tagLst xmlns:p="http://schemas.openxmlformats.org/presentationml/2006/main">
  <p:tag name="KSO_WM_DIAGRAM_VIRTUALLY_FRAME" val="{&quot;height&quot;:405.39031496062995,&quot;left&quot;:60.34110903871391,&quot;top&quot;:118.45834645669288,&quot;width&quot;:840.2703082841208}"/>
</p:tagLst>
</file>

<file path=ppt/tags/tag33.xml><?xml version="1.0" encoding="utf-8"?>
<p:tagLst xmlns:p="http://schemas.openxmlformats.org/presentationml/2006/main">
  <p:tag name="KSO_WM_DIAGRAM_VIRTUALLY_FRAME" val="{&quot;height&quot;:405.39031496062995,&quot;left&quot;:60.34110903871391,&quot;top&quot;:118.45834645669288,&quot;width&quot;:840.2703082841208}"/>
</p:tagLst>
</file>

<file path=ppt/tags/tag34.xml><?xml version="1.0" encoding="utf-8"?>
<p:tagLst xmlns:p="http://schemas.openxmlformats.org/presentationml/2006/main">
  <p:tag name="KSO_WM_DIAGRAM_VIRTUALLY_FRAME" val="{&quot;height&quot;:405.39031496062995,&quot;left&quot;:60.34110903871391,&quot;top&quot;:118.45834645669288,&quot;width&quot;:840.2703082841208}"/>
</p:tagLst>
</file>

<file path=ppt/tags/tag35.xml><?xml version="1.0" encoding="utf-8"?>
<p:tagLst xmlns:p="http://schemas.openxmlformats.org/presentationml/2006/main">
  <p:tag name="KSO_WM_DIAGRAM_VIRTUALLY_FRAME" val="{&quot;height&quot;:405.39031496062995,&quot;left&quot;:60.34110903871391,&quot;top&quot;:118.45834645669288,&quot;width&quot;:840.2703082841208}"/>
</p:tagLst>
</file>

<file path=ppt/tags/tag36.xml><?xml version="1.0" encoding="utf-8"?>
<p:tagLst xmlns:p="http://schemas.openxmlformats.org/presentationml/2006/main">
  <p:tag name="KSO_WM_DIAGRAM_VIRTUALLY_FRAME" val="{&quot;height&quot;:405.39031496062995,&quot;left&quot;:60.34110903871391,&quot;top&quot;:118.45834645669288,&quot;width&quot;:840.2703082841208}"/>
</p:tagLst>
</file>

<file path=ppt/tags/tag37.xml><?xml version="1.0" encoding="utf-8"?>
<p:tagLst xmlns:p="http://schemas.openxmlformats.org/presentationml/2006/main">
  <p:tag name="KSO_WM_DIAGRAM_VIRTUALLY_FRAME" val="{&quot;height&quot;:210.2,&quot;left&quot;:650,&quot;top&quot;:274.65,&quot;width&quot;:295.9}"/>
</p:tagLst>
</file>

<file path=ppt/tags/tag38.xml><?xml version="1.0" encoding="utf-8"?>
<p:tagLst xmlns:p="http://schemas.openxmlformats.org/presentationml/2006/main">
  <p:tag name="KSO_WM_DIAGRAM_VIRTUALLY_FRAME" val="{&quot;height&quot;:210.2,&quot;left&quot;:650,&quot;top&quot;:274.65,&quot;width&quot;:295.9}"/>
</p:tagLst>
</file>

<file path=ppt/tags/tag39.xml><?xml version="1.0" encoding="utf-8"?>
<p:tagLst xmlns:p="http://schemas.openxmlformats.org/presentationml/2006/main">
  <p:tag name="KSO_WM_DIAGRAM_VIRTUALLY_FRAME" val="{&quot;height&quot;:210.2,&quot;left&quot;:650,&quot;top&quot;:274.65,&quot;width&quot;:295.9}"/>
</p:tagLst>
</file>

<file path=ppt/tags/tag40.xml><?xml version="1.0" encoding="utf-8"?>
<p:tagLst xmlns:p="http://schemas.openxmlformats.org/presentationml/2006/main">
  <p:tag name="KSO_WM_DIAGRAM_VIRTUALLY_FRAME" val="{&quot;height&quot;:210.2,&quot;left&quot;:650,&quot;top&quot;:274.65,&quot;width&quot;:295.9}"/>
</p:tagLst>
</file>

<file path=ppt/tags/tag41.xml><?xml version="1.0" encoding="utf-8"?>
<p:tagLst xmlns:p="http://schemas.openxmlformats.org/presentationml/2006/main">
  <p:tag name="KSO_WM_DIAGRAM_VIRTUALLY_FRAME" val="{&quot;height&quot;:210.2,&quot;left&quot;:650,&quot;top&quot;:274.65,&quot;width&quot;:295.9}"/>
</p:tagLst>
</file>

<file path=ppt/tags/tag42.xml><?xml version="1.0" encoding="utf-8"?>
<p:tagLst xmlns:p="http://schemas.openxmlformats.org/presentationml/2006/main">
  <p:tag name="KSO_WM_DIAGRAM_VIRTUALLY_FRAME" val="{&quot;height&quot;:210.2,&quot;left&quot;:650,&quot;top&quot;:274.65,&quot;width&quot;:295.9}"/>
</p:tagLst>
</file>

<file path=ppt/tags/tag43.xml><?xml version="1.0" encoding="utf-8"?>
<p:tagLst xmlns:p="http://schemas.openxmlformats.org/presentationml/2006/main">
  <p:tag name="KSO_WM_DIAGRAM_VIRTUALLY_FRAME" val="{&quot;height&quot;:210.2,&quot;left&quot;:650,&quot;top&quot;:274.65,&quot;width&quot;:295.9}"/>
</p:tagLst>
</file>

<file path=ppt/tags/tag44.xml><?xml version="1.0" encoding="utf-8"?>
<p:tagLst xmlns:p="http://schemas.openxmlformats.org/presentationml/2006/main">
  <p:tag name="KSO_WM_DIAGRAM_VIRTUALLY_FRAME" val="{&quot;height&quot;:210.2,&quot;left&quot;:650,&quot;top&quot;:274.65,&quot;width&quot;:295.9}"/>
</p:tagLst>
</file>

<file path=ppt/tags/tag45.xml><?xml version="1.0" encoding="utf-8"?>
<p:tagLst xmlns:p="http://schemas.openxmlformats.org/presentationml/2006/main">
  <p:tag name="KSO_WM_DIAGRAM_VIRTUALLY_FRAME" val="{&quot;height&quot;:210.2,&quot;left&quot;:650,&quot;top&quot;:274.65,&quot;width&quot;:295.9}"/>
</p:tagLst>
</file>

<file path=ppt/tags/tag46.xml><?xml version="1.0" encoding="utf-8"?>
<p:tagLst xmlns:p="http://schemas.openxmlformats.org/presentationml/2006/main">
  <p:tag name="KSO_WM_DIAGRAM_VIRTUALLY_FRAME" val="{&quot;height&quot;:375.05,&quot;left&quot;:18.286368110236207,&quot;top&quot;:135.7,&quot;width&quot;:934.0636318897638}"/>
</p:tagLst>
</file>

<file path=ppt/tags/tag47.xml><?xml version="1.0" encoding="utf-8"?>
<p:tagLst xmlns:p="http://schemas.openxmlformats.org/presentationml/2006/main">
  <p:tag name="KSO_WM_DIAGRAM_VIRTUALLY_FRAME" val="{&quot;height&quot;:403.1,&quot;left&quot;:18.286368110236207,&quot;top&quot;:135.7,&quot;width&quot;:934.0636318897638}"/>
</p:tagLst>
</file>

<file path=ppt/tags/tag48.xml><?xml version="1.0" encoding="utf-8"?>
<p:tagLst xmlns:p="http://schemas.openxmlformats.org/presentationml/2006/main">
  <p:tag name="KSO_WM_DIAGRAM_VIRTUALLY_FRAME" val="{&quot;height&quot;:403.1,&quot;left&quot;:18.286368110236207,&quot;top&quot;:135.7,&quot;width&quot;:934.0636318897638}"/>
</p:tagLst>
</file>

<file path=ppt/tags/tag49.xml><?xml version="1.0" encoding="utf-8"?>
<p:tagLst xmlns:p="http://schemas.openxmlformats.org/presentationml/2006/main">
  <p:tag name="KSO_WM_DIAGRAM_VIRTUALLY_FRAME" val="{&quot;height&quot;:403.1,&quot;left&quot;:18.286368110236207,&quot;top&quot;:135.7,&quot;width&quot;:934.0636318897638}"/>
</p:tagLst>
</file>

<file path=ppt/tags/tag50.xml><?xml version="1.0" encoding="utf-8"?>
<p:tagLst xmlns:p="http://schemas.openxmlformats.org/presentationml/2006/main">
  <p:tag name="KSO_WM_DIAGRAM_VIRTUALLY_FRAME" val="{&quot;height&quot;:403.1,&quot;left&quot;:18.286368110236207,&quot;top&quot;:135.7,&quot;width&quot;:934.0636318897638}"/>
</p:tagLst>
</file>

<file path=ppt/tags/tag51.xml><?xml version="1.0" encoding="utf-8"?>
<p:tagLst xmlns:p="http://schemas.openxmlformats.org/presentationml/2006/main">
  <p:tag name="KSO_WM_DIAGRAM_VIRTUALLY_FRAME" val="{&quot;height&quot;:403.1,&quot;left&quot;:18.286368110236207,&quot;top&quot;:135.7,&quot;width&quot;:934.0636318897638}"/>
</p:tagLst>
</file>

<file path=ppt/tags/tag52.xml><?xml version="1.0" encoding="utf-8"?>
<p:tagLst xmlns:p="http://schemas.openxmlformats.org/presentationml/2006/main">
  <p:tag name="KSO_WM_DIAGRAM_VIRTUALLY_FRAME" val="{&quot;height&quot;:586.683763169236,&quot;left&quot;:23.08047244094488,&quot;top&quot;:37.33330708661415,&quot;width&quot;:931.7319685039369}"/>
</p:tagLst>
</file>

<file path=ppt/tags/tag53.xml><?xml version="1.0" encoding="utf-8"?>
<p:tagLst xmlns:p="http://schemas.openxmlformats.org/presentationml/2006/main">
  <p:tag name="KSO_WM_DIAGRAM_VIRTUALLY_FRAME" val="{&quot;height&quot;:586.683763169236,&quot;left&quot;:23.08047244094488,&quot;top&quot;:37.33330708661415,&quot;width&quot;:931.7319685039369}"/>
</p:tagLst>
</file>

<file path=ppt/tags/tag54.xml><?xml version="1.0" encoding="utf-8"?>
<p:tagLst xmlns:p="http://schemas.openxmlformats.org/presentationml/2006/main">
  <p:tag name="KSO_WM_DIAGRAM_VIRTUALLY_FRAME" val="{&quot;height&quot;:403.1,&quot;left&quot;:18.286368110236207,&quot;top&quot;:135.7,&quot;width&quot;:934.0636318897638}"/>
</p:tagLst>
</file>

<file path=ppt/tags/tag55.xml><?xml version="1.0" encoding="utf-8"?>
<p:tagLst xmlns:p="http://schemas.openxmlformats.org/presentationml/2006/main">
  <p:tag name="KSO_WM_DIAGRAM_VIRTUALLY_FRAME" val="{&quot;height&quot;:403.1,&quot;left&quot;:18.286368110236207,&quot;top&quot;:135.7,&quot;width&quot;:934.0636318897638}"/>
</p:tagLst>
</file>

<file path=ppt/tags/tag56.xml><?xml version="1.0" encoding="utf-8"?>
<p:tagLst xmlns:p="http://schemas.openxmlformats.org/presentationml/2006/main">
  <p:tag name="KSO_WM_DIAGRAM_VIRTUALLY_FRAME" val="{&quot;height&quot;:403.1,&quot;left&quot;:18.286368110236207,&quot;top&quot;:135.7,&quot;width&quot;:934.0636318897638}"/>
</p:tagLst>
</file>

<file path=ppt/tags/tag57.xml><?xml version="1.0" encoding="utf-8"?>
<p:tagLst xmlns:p="http://schemas.openxmlformats.org/presentationml/2006/main">
  <p:tag name="KSO_WM_DIAGRAM_VIRTUALLY_FRAME" val="{&quot;height&quot;:586.683763169236,&quot;left&quot;:23.08047244094488,&quot;top&quot;:37.33330708661415,&quot;width&quot;:931.7319685039369}"/>
</p:tagLst>
</file>

<file path=ppt/tags/tag58.xml><?xml version="1.0" encoding="utf-8"?>
<p:tagLst xmlns:p="http://schemas.openxmlformats.org/presentationml/2006/main">
  <p:tag name="KSO_WM_DIAGRAM_VIRTUALLY_FRAME" val="{&quot;height&quot;:586.683763169236,&quot;left&quot;:23.08047244094488,&quot;top&quot;:37.33330708661415,&quot;width&quot;:931.7319685039369}"/>
</p:tagLst>
</file>

<file path=ppt/tags/tag59.xml><?xml version="1.0" encoding="utf-8"?>
<p:tagLst xmlns:p="http://schemas.openxmlformats.org/presentationml/2006/main">
  <p:tag name="KSO_WM_DIAGRAM_VIRTUALLY_FRAME" val="{&quot;height&quot;:296.9409448818898,&quot;left&quot;:3.570472440944877,&quot;top&quot;:144.55,&quot;width&quot;:974.3795275590552}"/>
</p:tagLst>
</file>

<file path=ppt/tags/tag60.xml><?xml version="1.0" encoding="utf-8"?>
<p:tagLst xmlns:p="http://schemas.openxmlformats.org/presentationml/2006/main">
  <p:tag name="KSO_WM_DIAGRAM_VIRTUALLY_FRAME" val="{&quot;height&quot;:405.39031496062995,&quot;left&quot;:60.34425196850393,&quot;top&quot;:118.45834645669288,&quot;width&quot;:840.2671653543308}"/>
</p:tagLst>
</file>

<file path=ppt/tags/tag61.xml><?xml version="1.0" encoding="utf-8"?>
<p:tagLst xmlns:p="http://schemas.openxmlformats.org/presentationml/2006/main">
  <p:tag name="KSO_WM_DIAGRAM_VIRTUALLY_FRAME" val="{&quot;height&quot;:586.683763169236,&quot;left&quot;:23.08047244094488,&quot;top&quot;:37.33330708661415,&quot;width&quot;:931.7319685039369}"/>
</p:tagLst>
</file>

<file path=ppt/tags/tag62.xml><?xml version="1.0" encoding="utf-8"?>
<p:tagLst xmlns:p="http://schemas.openxmlformats.org/presentationml/2006/main">
  <p:tag name="KSO_WM_DIAGRAM_VIRTUALLY_FRAME" val="{&quot;height&quot;:586.683763169236,&quot;left&quot;:23.08047244094488,&quot;top&quot;:37.33330708661415,&quot;width&quot;:931.7319685039369}"/>
</p:tagLst>
</file>

<file path=ppt/tags/tag63.xml><?xml version="1.0" encoding="utf-8"?>
<p:tagLst xmlns:p="http://schemas.openxmlformats.org/presentationml/2006/main">
  <p:tag name="KSO_WM_DIAGRAM_VIRTUALLY_FRAME" val="{&quot;height&quot;:586.683763169236,&quot;left&quot;:23.08047244094488,&quot;top&quot;:37.33330708661415,&quot;width&quot;:931.7319685039369}"/>
</p:tagLst>
</file>

<file path=ppt/tags/tag64.xml><?xml version="1.0" encoding="utf-8"?>
<p:tagLst xmlns:p="http://schemas.openxmlformats.org/presentationml/2006/main">
  <p:tag name="KSO_WM_DIAGRAM_VIRTUALLY_FRAME" val="{&quot;height&quot;:296.9409448818898,&quot;left&quot;:3.570472440944877,&quot;top&quot;:144.55,&quot;width&quot;:974.3795275590552}"/>
</p:tagLst>
</file>

<file path=ppt/tags/tag65.xml><?xml version="1.0" encoding="utf-8"?>
<p:tagLst xmlns:p="http://schemas.openxmlformats.org/presentationml/2006/main">
  <p:tag name="KSO_WM_DIAGRAM_VIRTUALLY_FRAME" val="{&quot;height&quot;:405.39031496062995,&quot;left&quot;:60.34425196850393,&quot;top&quot;:118.45834645669288,&quot;width&quot;:840.2671653543308}"/>
</p:tagLst>
</file>

<file path=ppt/tags/tag66.xml><?xml version="1.0" encoding="utf-8"?>
<p:tagLst xmlns:p="http://schemas.openxmlformats.org/presentationml/2006/main">
  <p:tag name="KSO_WM_DIAGRAM_VIRTUALLY_FRAME" val="{&quot;height&quot;:586.683763169236,&quot;left&quot;:23.08047244094488,&quot;top&quot;:37.33330708661415,&quot;width&quot;:931.7319685039369}"/>
</p:tagLst>
</file>

<file path=ppt/tags/tag67.xml><?xml version="1.0" encoding="utf-8"?>
<p:tagLst xmlns:p="http://schemas.openxmlformats.org/presentationml/2006/main">
  <p:tag name="KSO_WM_DIAGRAM_VIRTUALLY_FRAME" val="{&quot;height&quot;:586.683763169236,&quot;left&quot;:23.08047244094488,&quot;top&quot;:37.33330708661415,&quot;width&quot;:931.7319685039369}"/>
</p:tagLst>
</file>

<file path=ppt/tags/tag68.xml><?xml version="1.0" encoding="utf-8"?>
<p:tagLst xmlns:p="http://schemas.openxmlformats.org/presentationml/2006/main">
  <p:tag name="KSO_WM_DIAGRAM_VIRTUALLY_FRAME" val="{&quot;height&quot;:586.683763169236,&quot;left&quot;:23.08047244094488,&quot;top&quot;:37.33330708661415,&quot;width&quot;:931.7319685039369}"/>
</p:tagLst>
</file>

<file path=ppt/tags/tag69.xml><?xml version="1.0" encoding="utf-8"?>
<p:tagLst xmlns:p="http://schemas.openxmlformats.org/presentationml/2006/main">
  <p:tag name="KSO_WM_DIAGRAM_VIRTUALLY_FRAME" val="{&quot;height&quot;:296.9409448818898,&quot;left&quot;:3.570472440944877,&quot;top&quot;:144.55,&quot;width&quot;:974.3795275590552}"/>
</p:tagLst>
</file>

<file path=ppt/tags/tag70.xml><?xml version="1.0" encoding="utf-8"?>
<p:tagLst xmlns:p="http://schemas.openxmlformats.org/presentationml/2006/main">
  <p:tag name="KSO_WM_DIAGRAM_VIRTUALLY_FRAME" val="{&quot;height&quot;:405.39031496062995,&quot;left&quot;:60.34425196850393,&quot;top&quot;:118.45834645669288,&quot;width&quot;:840.2671653543308}"/>
</p:tagLst>
</file>

<file path=ppt/tags/tag71.xml><?xml version="1.0" encoding="utf-8"?>
<p:tagLst xmlns:p="http://schemas.openxmlformats.org/presentationml/2006/main">
  <p:tag name="KSO_WM_DIAGRAM_VIRTUALLY_FRAME" val="{&quot;height&quot;:586.683763169236,&quot;left&quot;:23.08047244094488,&quot;top&quot;:37.33330708661415,&quot;width&quot;:931.7319685039369}"/>
</p:tagLst>
</file>

<file path=ppt/tags/tag72.xml><?xml version="1.0" encoding="utf-8"?>
<p:tagLst xmlns:p="http://schemas.openxmlformats.org/presentationml/2006/main">
  <p:tag name="KSO_WM_DIAGRAM_VIRTUALLY_FRAME" val="{&quot;height&quot;:586.683763169236,&quot;left&quot;:23.08047244094488,&quot;top&quot;:37.33330708661415,&quot;width&quot;:931.7319685039369}"/>
</p:tagLst>
</file>

<file path=ppt/tags/tag73.xml><?xml version="1.0" encoding="utf-8"?>
<p:tagLst xmlns:p="http://schemas.openxmlformats.org/presentationml/2006/main">
  <p:tag name="KSO_WM_DIAGRAM_VIRTUALLY_FRAME" val="{&quot;height&quot;:586.683763169236,&quot;left&quot;:23.08047244094488,&quot;top&quot;:37.33330708661415,&quot;width&quot;:931.731968503936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2929</Words>
  <Application>WPS 演示</Application>
  <PresentationFormat>On-screen Show (4:3)</PresentationFormat>
  <Paragraphs>279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40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Calibri</vt:lpstr>
      <vt:lpstr>等线</vt:lpstr>
      <vt:lpstr>Arial Black</vt:lpstr>
      <vt:lpstr>阿里巴巴普惠体 R</vt:lpstr>
      <vt:lpstr>汉仪书魂体简</vt:lpstr>
      <vt:lpstr>阿里巴巴和七个小矮人</vt:lpstr>
      <vt:lpstr>汉仪颜楷简</vt:lpstr>
      <vt:lpstr>方正FW轻吟体 简 M</vt:lpstr>
      <vt:lpstr>Times New Roman</vt:lpstr>
      <vt:lpstr>Wingdings</vt:lpstr>
      <vt:lpstr>SJBesse</vt:lpstr>
      <vt:lpstr>Kozuka Mincho Pr6N R</vt:lpstr>
      <vt:lpstr>Calibri Light</vt:lpstr>
      <vt:lpstr>方正宋刻本秀楷简体</vt:lpstr>
      <vt:lpstr>AMGDT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齐晓阳</cp:lastModifiedBy>
  <cp:revision>2</cp:revision>
  <dcterms:created xsi:type="dcterms:W3CDTF">2013-01-27T09:14:00Z</dcterms:created>
  <dcterms:modified xsi:type="dcterms:W3CDTF">2026-05-22T04:34:16Z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098BB8EE9B70457CA9560E65A8F166CE_12</vt:lpwstr>
  </property>
</Properties>
</file>